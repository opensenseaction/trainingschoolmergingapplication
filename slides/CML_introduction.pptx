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7" r:id="rId3"/>
    <p:sldId id="260" r:id="rId4"/>
    <p:sldId id="258" r:id="rId5"/>
    <p:sldId id="261" r:id="rId6"/>
    <p:sldId id="262" r:id="rId7"/>
    <p:sldId id="263" r:id="rId8"/>
    <p:sldId id="268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281"/>
  </p:normalViewPr>
  <p:slideViewPr>
    <p:cSldViewPr snapToGrid="0" snapToObjects="1">
      <p:cViewPr varScale="1">
        <p:scale>
          <a:sx n="115" d="100"/>
          <a:sy n="115" d="100"/>
        </p:scale>
        <p:origin x="208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1EE67-B35D-1E45-B808-06359A218C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FEF284-06F5-564B-8F25-100F9AFA8A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D7A5B-CD44-854A-BCF3-E6F9D7693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01FA8-0EC8-2544-B50F-32BABE0703D0}" type="datetimeFigureOut">
              <a:rPr lang="en-US" smtClean="0"/>
              <a:t>4/1/25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E8B4C-7454-8141-91C4-CB13FFAD3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5EE2D8-D550-B345-AAB4-508FF5C89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B29C6-DCF4-144F-A222-9DFB9D741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289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7E39A-AACB-AB41-9B4D-510B98B1D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6F80F-E519-7C4F-B46A-0F3844F6A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ECF39-E3DB-6B4B-B04B-AFAADE5A9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01FA8-0EC8-2544-B50F-32BABE0703D0}" type="datetimeFigureOut">
              <a:rPr lang="en-US" smtClean="0"/>
              <a:t>4/1/25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85A59-D5F7-A24A-8D0C-A383978BB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61AB7-96FC-114D-856C-093F102AB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B29C6-DCF4-144F-A222-9DFB9D741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560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29245-4B26-604F-A179-0EAC7A056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A1CBC0-240A-5A40-9184-824BB2E917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CF52D-1FEB-5C49-8C42-482C4EE4E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01FA8-0EC8-2544-B50F-32BABE0703D0}" type="datetimeFigureOut">
              <a:rPr lang="en-US" smtClean="0"/>
              <a:t>4/1/25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C5816-C8E3-2342-88B9-2979545E5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F93C7-24B8-D847-A715-E67C7D800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B29C6-DCF4-144F-A222-9DFB9D741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79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B4E38-59F6-754B-AA89-0E56787F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5D4AE-5C9F-EF4C-AF41-CAA9DAF329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3D17C9-63B0-6146-8B55-359F44755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9EAC0C-5838-D54E-B0AD-6F21FCB76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01FA8-0EC8-2544-B50F-32BABE0703D0}" type="datetimeFigureOut">
              <a:rPr lang="en-US" smtClean="0"/>
              <a:t>4/1/25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FD6056-49E5-6541-9460-E0D6F70D2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82B5FC-731D-6C45-979A-624ED4A62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B29C6-DCF4-144F-A222-9DFB9D741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388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A0EA6-AF0C-8E49-ADBB-3AFD6EB70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6C75BD-4AF5-8646-BF56-2882D7B10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67C44B-31CF-474D-8657-8C5EB4BDDD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4EC50-2A83-8744-90EF-FA3A7D8FB5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B56192-53C3-914B-9AA3-235647A53E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EE49BF-B596-DE4C-BCE6-E5EC91400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01FA8-0EC8-2544-B50F-32BABE0703D0}" type="datetimeFigureOut">
              <a:rPr lang="en-US" smtClean="0"/>
              <a:t>4/1/25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32152A-850F-EE46-837C-4420B1FA0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95E6A9-CA5C-EC4F-A313-90B69F269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B29C6-DCF4-144F-A222-9DFB9D741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634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6CC7E-B123-9049-ACA6-DBE13C245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7AE2FE-0CAA-604B-8E0E-E536D608C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01FA8-0EC8-2544-B50F-32BABE0703D0}" type="datetimeFigureOut">
              <a:rPr lang="en-US" smtClean="0"/>
              <a:t>4/1/25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873C4C-1228-2445-A5FF-22AC18006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7FA59-A618-7F4C-B4D3-ED97B3C54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B29C6-DCF4-144F-A222-9DFB9D741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655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3AA959-9547-CA47-BD41-FA1A84611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01FA8-0EC8-2544-B50F-32BABE0703D0}" type="datetimeFigureOut">
              <a:rPr lang="en-US" smtClean="0"/>
              <a:t>4/1/25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CE20B8-C605-B34D-B2E8-DACC8F4D6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A65C8B-A016-1E4B-B20C-7D2ADD8B5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B29C6-DCF4-144F-A222-9DFB9D741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740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6BC3D-0386-5140-96DA-9CCE26378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B2AF7-F25A-0847-9BFC-A6FB1D7C6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CEC4EB-CE50-2F47-B657-06CE21DDA5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746505-D2E2-2D4F-A43A-9132147F1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01FA8-0EC8-2544-B50F-32BABE0703D0}" type="datetimeFigureOut">
              <a:rPr lang="en-US" smtClean="0"/>
              <a:t>4/1/25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E30442-EBCE-B744-BD26-286D995BE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F744A6-10ED-FF4A-9CDE-45866FC49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B29C6-DCF4-144F-A222-9DFB9D741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472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73843-9B04-C446-B22A-EE4D4BBE0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958303-7D0A-3A4E-A051-57C58AD3AE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0D3B39-3161-374D-8443-3529576B71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37803-CB73-2747-B150-6E6424602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01FA8-0EC8-2544-B50F-32BABE0703D0}" type="datetimeFigureOut">
              <a:rPr lang="en-US" smtClean="0"/>
              <a:t>4/1/25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874F98-9688-184D-8110-1F54F39AE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E00E80-BA54-0A45-A0CE-A962EC6CA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B29C6-DCF4-144F-A222-9DFB9D741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650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C1BAE-049D-9349-B554-9425110BC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D222FC-167A-3F46-8CCA-C889B8CB06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81F323-1AF3-8E45-A553-80CCC9B8F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01FA8-0EC8-2544-B50F-32BABE0703D0}" type="datetimeFigureOut">
              <a:rPr lang="en-US" smtClean="0"/>
              <a:t>4/1/25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E66E41-4A02-CB4E-B904-8F1015B0C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1D5CD-C093-BB4B-A5A8-90CD575EB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B29C6-DCF4-144F-A222-9DFB9D741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493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2CEB16-EAF0-7C4C-AC96-303DF8BD46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397932-76C3-8641-8B14-412EE40002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2C75AB-D70F-AD49-A14B-208C5D8E0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01FA8-0EC8-2544-B50F-32BABE0703D0}" type="datetimeFigureOut">
              <a:rPr lang="en-US" smtClean="0"/>
              <a:t>4/1/25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9CB8E-BA4E-A54B-9928-7790F3993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7965C-EA11-8845-A1D7-CC6FC1723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B29C6-DCF4-144F-A222-9DFB9D741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644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50DEFA-68D7-8049-871A-B14198BDB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C42B20-DB2A-3541-8C24-1E0C915FB6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1F4CD-2C2C-1548-BA73-90BC782E9E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C01FA8-0EC8-2544-B50F-32BABE0703D0}" type="datetimeFigureOut">
              <a:rPr lang="en-US" smtClean="0"/>
              <a:t>4/1/25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0EF77-13AD-C44D-8A3A-AAFE391299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146369-7E06-814D-A0C1-DA6059E24F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9B29C6-DCF4-144F-A222-9DFB9D741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062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164C7-9A2A-6045-B641-0BF38122CC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Commercial microwave links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6A3C4B-311A-1A43-9872-78D34AF194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(CML)</a:t>
            </a:r>
          </a:p>
          <a:p>
            <a:r>
              <a:rPr lang="en-US" dirty="0"/>
              <a:t>for rainfall estimation</a:t>
            </a:r>
          </a:p>
        </p:txBody>
      </p:sp>
      <p:grpSp>
        <p:nvGrpSpPr>
          <p:cNvPr id="4" name="Gruppieren 20">
            <a:extLst>
              <a:ext uri="{FF2B5EF4-FFF2-40B4-BE49-F238E27FC236}">
                <a16:creationId xmlns:a16="http://schemas.microsoft.com/office/drawing/2014/main" id="{2856AAAE-46DE-244C-A3B9-283FC67F804F}"/>
              </a:ext>
            </a:extLst>
          </p:cNvPr>
          <p:cNvGrpSpPr/>
          <p:nvPr/>
        </p:nvGrpSpPr>
        <p:grpSpPr>
          <a:xfrm>
            <a:off x="108030" y="3602038"/>
            <a:ext cx="4559225" cy="3086828"/>
            <a:chOff x="256654" y="1604018"/>
            <a:chExt cx="3419419" cy="2315121"/>
          </a:xfrm>
        </p:grpSpPr>
        <p:pic>
          <p:nvPicPr>
            <p:cNvPr id="5" name="Google Shape;147;g2ffd62d3467_0_0">
              <a:extLst>
                <a:ext uri="{FF2B5EF4-FFF2-40B4-BE49-F238E27FC236}">
                  <a16:creationId xmlns:a16="http://schemas.microsoft.com/office/drawing/2014/main" id="{1127112D-5843-3140-8648-679F0BA2D304}"/>
                </a:ext>
              </a:extLst>
            </p:cNvPr>
            <p:cNvPicPr preferRelativeResize="0"/>
            <p:nvPr/>
          </p:nvPicPr>
          <p:blipFill>
            <a:blip r:embed="rId2">
              <a:alphaModFix/>
            </a:blip>
            <a:srcRect l="1" r="60543"/>
            <a:stretch/>
          </p:blipFill>
          <p:spPr>
            <a:xfrm>
              <a:off x="256654" y="1604018"/>
              <a:ext cx="3419419" cy="23151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Rechteck 13">
              <a:extLst>
                <a:ext uri="{FF2B5EF4-FFF2-40B4-BE49-F238E27FC236}">
                  <a16:creationId xmlns:a16="http://schemas.microsoft.com/office/drawing/2014/main" id="{2C17F96B-ABCE-4B44-82C8-330B5A6DB407}"/>
                </a:ext>
              </a:extLst>
            </p:cNvPr>
            <p:cNvSpPr/>
            <p:nvPr/>
          </p:nvSpPr>
          <p:spPr>
            <a:xfrm>
              <a:off x="1662545" y="3528291"/>
              <a:ext cx="544945" cy="314037"/>
            </a:xfrm>
            <a:prstGeom prst="rect">
              <a:avLst/>
            </a:prstGeom>
            <a:solidFill>
              <a:srgbClr val="DDEBD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7" name="Rechteck 14">
              <a:extLst>
                <a:ext uri="{FF2B5EF4-FFF2-40B4-BE49-F238E27FC236}">
                  <a16:creationId xmlns:a16="http://schemas.microsoft.com/office/drawing/2014/main" id="{57F0FFC2-827C-634A-8233-A46C2360C103}"/>
                </a:ext>
              </a:extLst>
            </p:cNvPr>
            <p:cNvSpPr/>
            <p:nvPr/>
          </p:nvSpPr>
          <p:spPr>
            <a:xfrm>
              <a:off x="311700" y="1662048"/>
              <a:ext cx="544945" cy="314037"/>
            </a:xfrm>
            <a:prstGeom prst="rect">
              <a:avLst/>
            </a:prstGeom>
            <a:solidFill>
              <a:srgbClr val="DDEBD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3350904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CC4D894-6868-1E47-8D83-E1B654F54430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CML rainfall estimation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D17A17B-4BA0-934D-86F5-18F1213F0275}"/>
              </a:ext>
            </a:extLst>
          </p:cNvPr>
          <p:cNvGrpSpPr>
            <a:grpSpLocks noChangeAspect="1"/>
          </p:cNvGrpSpPr>
          <p:nvPr/>
        </p:nvGrpSpPr>
        <p:grpSpPr>
          <a:xfrm>
            <a:off x="2462039" y="1349047"/>
            <a:ext cx="7785659" cy="2967012"/>
            <a:chOff x="830580" y="1391936"/>
            <a:chExt cx="8808720" cy="335688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0D1A9F3-2B9A-FE48-B053-02A805FDC7B1}"/>
                </a:ext>
              </a:extLst>
            </p:cNvPr>
            <p:cNvSpPr/>
            <p:nvPr/>
          </p:nvSpPr>
          <p:spPr>
            <a:xfrm>
              <a:off x="2213118" y="1897380"/>
              <a:ext cx="1993122" cy="3581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transmitted microwave signal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9DE20F4-2007-1941-AD3A-C1B5B52BB9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580" y="1391936"/>
              <a:ext cx="8808720" cy="3356887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A5F1A96-361B-304F-A737-4E4C4744A8A8}"/>
                </a:ext>
              </a:extLst>
            </p:cNvPr>
            <p:cNvSpPr/>
            <p:nvPr/>
          </p:nvSpPr>
          <p:spPr>
            <a:xfrm>
              <a:off x="7082298" y="2019300"/>
              <a:ext cx="1028700" cy="3581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directional radio antenna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2C00D2B-8FB7-4344-8C9E-46CF2EBE7366}"/>
                </a:ext>
              </a:extLst>
            </p:cNvPr>
            <p:cNvSpPr/>
            <p:nvPr/>
          </p:nvSpPr>
          <p:spPr>
            <a:xfrm>
              <a:off x="4285758" y="3459480"/>
              <a:ext cx="2366502" cy="3581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strong attenuation </a:t>
              </a:r>
            </a:p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due to rain drops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B87BD13-5907-F243-90AF-333670C2DBD7}"/>
                </a:ext>
              </a:extLst>
            </p:cNvPr>
            <p:cNvSpPr/>
            <p:nvPr/>
          </p:nvSpPr>
          <p:spPr>
            <a:xfrm>
              <a:off x="1947249" y="3807061"/>
              <a:ext cx="1284547" cy="3581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mobile communications tower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CA36EBD-EAC1-DD4C-890A-47DAC08E776F}"/>
                </a:ext>
              </a:extLst>
            </p:cNvPr>
            <p:cNvSpPr/>
            <p:nvPr/>
          </p:nvSpPr>
          <p:spPr>
            <a:xfrm>
              <a:off x="6912726" y="3204991"/>
              <a:ext cx="986789" cy="3581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base station antenna</a:t>
              </a: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5E2AFCD3-ECDE-F742-A666-673A3E65FCE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26" t="12162" r="58136" b="-325"/>
          <a:stretch/>
        </p:blipFill>
        <p:spPr>
          <a:xfrm>
            <a:off x="1027774" y="1499107"/>
            <a:ext cx="1274742" cy="3671256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0668B42E-4FBF-D647-BB1B-7604B02E9DFF}"/>
              </a:ext>
            </a:extLst>
          </p:cNvPr>
          <p:cNvGrpSpPr>
            <a:grpSpLocks noChangeAspect="1"/>
          </p:cNvGrpSpPr>
          <p:nvPr/>
        </p:nvGrpSpPr>
        <p:grpSpPr>
          <a:xfrm>
            <a:off x="4008447" y="4262884"/>
            <a:ext cx="4701527" cy="2465808"/>
            <a:chOff x="3105665" y="4153529"/>
            <a:chExt cx="5165124" cy="2708949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C623A076-1A89-2848-A8B2-013297E743B4}"/>
                </a:ext>
              </a:extLst>
            </p:cNvPr>
            <p:cNvSpPr/>
            <p:nvPr/>
          </p:nvSpPr>
          <p:spPr>
            <a:xfrm>
              <a:off x="3105665" y="4153529"/>
              <a:ext cx="5165124" cy="2673851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" name="Bild 15">
              <a:extLst>
                <a:ext uri="{FF2B5EF4-FFF2-40B4-BE49-F238E27FC236}">
                  <a16:creationId xmlns:a16="http://schemas.microsoft.com/office/drawing/2014/main" id="{A42D783C-4847-6E47-9591-4F7835693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14294" y="4153529"/>
              <a:ext cx="2178381" cy="2178381"/>
            </a:xfrm>
            <a:prstGeom prst="rect">
              <a:avLst/>
            </a:prstGeom>
          </p:spPr>
        </p:pic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08CD912-C08E-4F40-A584-0BB535AB2EBE}"/>
                </a:ext>
              </a:extLst>
            </p:cNvPr>
            <p:cNvGrpSpPr/>
            <p:nvPr/>
          </p:nvGrpSpPr>
          <p:grpSpPr>
            <a:xfrm>
              <a:off x="5648477" y="4775336"/>
              <a:ext cx="2455554" cy="1247257"/>
              <a:chOff x="2803907" y="3762185"/>
              <a:chExt cx="2455554" cy="124725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feld 4">
                    <a:extLst>
                      <a:ext uri="{FF2B5EF4-FFF2-40B4-BE49-F238E27FC236}">
                        <a16:creationId xmlns:a16="http://schemas.microsoft.com/office/drawing/2014/main" id="{5A8307FE-6B4C-4244-B47F-DD6173D3D438}"/>
                      </a:ext>
                    </a:extLst>
                  </p:cNvPr>
                  <p:cNvSpPr txBox="1"/>
                  <p:nvPr/>
                </p:nvSpPr>
                <p:spPr>
                  <a:xfrm>
                    <a:off x="3936255" y="4294270"/>
                    <a:ext cx="1062548" cy="25064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de-DE" sz="1600" b="0" i="1" smtClean="0">
                              <a:latin typeface="Cambria Math" charset="0"/>
                            </a:rPr>
                            <m:t>𝐴</m:t>
                          </m:r>
                          <m:r>
                            <a:rPr lang="de-DE" sz="1600" b="0" i="1" smtClean="0">
                              <a:latin typeface="Cambria Math" charset="0"/>
                            </a:rPr>
                            <m:t>=</m:t>
                          </m:r>
                          <m:r>
                            <a:rPr lang="de-DE" sz="1600" b="0" i="1" smtClean="0">
                              <a:latin typeface="Cambria Math" charset="0"/>
                            </a:rPr>
                            <m:t>𝑎</m:t>
                          </m:r>
                          <m:sSup>
                            <m:sSupPr>
                              <m:ctrlPr>
                                <a:rPr lang="de-DE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sz="1600" b="0" i="1" smtClean="0">
                                  <a:latin typeface="Cambria Math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de-DE" sz="1600" b="0" i="1" smtClean="0">
                                  <a:latin typeface="Cambria Math" charset="0"/>
                                </a:rPr>
                                <m:t>𝑏</m:t>
                              </m:r>
                            </m:sup>
                          </m:sSup>
                        </m:oMath>
                      </m:oMathPara>
                    </a14:m>
                    <a:endParaRPr lang="de-DE" sz="1600" dirty="0"/>
                  </a:p>
                </p:txBody>
              </p:sp>
            </mc:Choice>
            <mc:Fallback xmlns="">
              <p:sp>
                <p:nvSpPr>
                  <p:cNvPr id="17" name="Textfeld 4">
                    <a:extLst>
                      <a:ext uri="{FF2B5EF4-FFF2-40B4-BE49-F238E27FC236}">
                        <a16:creationId xmlns:a16="http://schemas.microsoft.com/office/drawing/2014/main" id="{D9DCBB5C-F21B-994A-8E35-71281ACAE3C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36255" y="4294270"/>
                    <a:ext cx="1062548" cy="250646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1578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" name="Textfeld 5">
                <a:extLst>
                  <a:ext uri="{FF2B5EF4-FFF2-40B4-BE49-F238E27FC236}">
                    <a16:creationId xmlns:a16="http://schemas.microsoft.com/office/drawing/2014/main" id="{CA917D19-AF0C-5B47-ADFB-F727449A818A}"/>
                  </a:ext>
                </a:extLst>
              </p:cNvPr>
              <p:cNvSpPr txBox="1"/>
              <p:nvPr/>
            </p:nvSpPr>
            <p:spPr>
              <a:xfrm>
                <a:off x="3623819" y="4732443"/>
                <a:ext cx="108590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de-DE" sz="1200" dirty="0"/>
                  <a:t>[dB/km]</a:t>
                </a:r>
              </a:p>
            </p:txBody>
          </p:sp>
          <p:sp>
            <p:nvSpPr>
              <p:cNvPr id="20" name="Textfeld 18">
                <a:extLst>
                  <a:ext uri="{FF2B5EF4-FFF2-40B4-BE49-F238E27FC236}">
                    <a16:creationId xmlns:a16="http://schemas.microsoft.com/office/drawing/2014/main" id="{EEDBC4AB-142A-B043-AAE8-0DB629C984D7}"/>
                  </a:ext>
                </a:extLst>
              </p:cNvPr>
              <p:cNvSpPr txBox="1"/>
              <p:nvPr/>
            </p:nvSpPr>
            <p:spPr>
              <a:xfrm>
                <a:off x="4159996" y="3762185"/>
                <a:ext cx="109946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de-DE" sz="1200" dirty="0"/>
                  <a:t>[mm/h]</a:t>
                </a:r>
              </a:p>
            </p:txBody>
          </p:sp>
          <p:cxnSp>
            <p:nvCxnSpPr>
              <p:cNvPr id="21" name="Gerade Verbindung mit Pfeil 7">
                <a:extLst>
                  <a:ext uri="{FF2B5EF4-FFF2-40B4-BE49-F238E27FC236}">
                    <a16:creationId xmlns:a16="http://schemas.microsoft.com/office/drawing/2014/main" id="{32F29A15-33B7-454C-AD02-5025EC30A84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4147577" y="4544916"/>
                <a:ext cx="0" cy="213880"/>
              </a:xfrm>
              <a:prstGeom prst="straightConnector1">
                <a:avLst/>
              </a:prstGeom>
              <a:solidFill>
                <a:srgbClr val="00B8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22" name="Gerade Verbindung mit Pfeil 14">
                <a:extLst>
                  <a:ext uri="{FF2B5EF4-FFF2-40B4-BE49-F238E27FC236}">
                    <a16:creationId xmlns:a16="http://schemas.microsoft.com/office/drawing/2014/main" id="{5B8741FF-288E-5445-A77B-8E838797A74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4678045" y="3996371"/>
                <a:ext cx="0" cy="314359"/>
              </a:xfrm>
              <a:prstGeom prst="straightConnector1">
                <a:avLst/>
              </a:prstGeom>
              <a:solidFill>
                <a:srgbClr val="00B8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CFF2014-A6A5-6A40-890B-2A698F653EBC}"/>
                  </a:ext>
                </a:extLst>
              </p:cNvPr>
              <p:cNvSpPr txBox="1"/>
              <p:nvPr/>
            </p:nvSpPr>
            <p:spPr>
              <a:xfrm>
                <a:off x="2803907" y="4310730"/>
                <a:ext cx="113434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A-R power law:</a:t>
                </a:r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17221DB-25FB-EF47-9846-569B477FA2FF}"/>
                </a:ext>
              </a:extLst>
            </p:cNvPr>
            <p:cNvSpPr txBox="1"/>
            <p:nvPr/>
          </p:nvSpPr>
          <p:spPr>
            <a:xfrm>
              <a:off x="4011640" y="6287666"/>
              <a:ext cx="3273684" cy="5748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Experimentally measured relation </a:t>
              </a:r>
            </a:p>
            <a:p>
              <a:pPr algn="ctr"/>
              <a:r>
                <a:rPr lang="en-US" sz="1400" dirty="0"/>
                <a:t>between attenuation A and rain rate R</a:t>
              </a:r>
            </a:p>
          </p:txBody>
        </p:sp>
      </p:grp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0C049E6-C5E2-0E43-B32E-E43B739D7EEE}"/>
              </a:ext>
            </a:extLst>
          </p:cNvPr>
          <p:cNvSpPr/>
          <p:nvPr/>
        </p:nvSpPr>
        <p:spPr>
          <a:xfrm>
            <a:off x="5572497" y="2092605"/>
            <a:ext cx="2091652" cy="1434217"/>
          </a:xfrm>
          <a:prstGeom prst="roundRect">
            <a:avLst/>
          </a:prstGeom>
          <a:solidFill>
            <a:schemeClr val="bg1">
              <a:lumMod val="85000"/>
              <a:alpha val="23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6693C6C-FDD3-E643-8C83-66627E611014}"/>
              </a:ext>
            </a:extLst>
          </p:cNvPr>
          <p:cNvCxnSpPr>
            <a:cxnSpLocks/>
          </p:cNvCxnSpPr>
          <p:nvPr/>
        </p:nvCxnSpPr>
        <p:spPr>
          <a:xfrm flipH="1">
            <a:off x="4008447" y="2171700"/>
            <a:ext cx="1624608" cy="239120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430F3E4-6B3B-5C4B-9704-7748E3F00C9D}"/>
              </a:ext>
            </a:extLst>
          </p:cNvPr>
          <p:cNvCxnSpPr>
            <a:cxnSpLocks/>
          </p:cNvCxnSpPr>
          <p:nvPr/>
        </p:nvCxnSpPr>
        <p:spPr>
          <a:xfrm>
            <a:off x="7638283" y="2220093"/>
            <a:ext cx="1071691" cy="234280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C6891D2-D7E5-3043-B4D4-33F6D73F86E7}"/>
              </a:ext>
            </a:extLst>
          </p:cNvPr>
          <p:cNvSpPr txBox="1"/>
          <p:nvPr/>
        </p:nvSpPr>
        <p:spPr>
          <a:xfrm>
            <a:off x="3721912" y="1850723"/>
            <a:ext cx="1664238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050" dirty="0"/>
              <a:t>transmitted microwaves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50312576-6C8E-9E4E-AD4E-2BD2DAF9EE3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26" t="12162" r="58136" b="-325"/>
          <a:stretch/>
        </p:blipFill>
        <p:spPr>
          <a:xfrm>
            <a:off x="10059864" y="1499107"/>
            <a:ext cx="1274742" cy="367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995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E7438-EEEA-B24D-B7C3-A52092963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176" y="-80923"/>
            <a:ext cx="10515600" cy="1325563"/>
          </a:xfrm>
        </p:spPr>
        <p:txBody>
          <a:bodyPr/>
          <a:lstStyle/>
          <a:p>
            <a:r>
              <a:rPr lang="en-US" dirty="0"/>
              <a:t>CML processing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71624F-EDBE-5B4D-89E5-D001697833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663" b="53523"/>
          <a:stretch/>
        </p:blipFill>
        <p:spPr>
          <a:xfrm>
            <a:off x="1784503" y="1690688"/>
            <a:ext cx="8178645" cy="12489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11B2662-CA82-F240-A0F0-90DD608EFCE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6" t="93194" r="-136" b="792"/>
          <a:stretch/>
        </p:blipFill>
        <p:spPr>
          <a:xfrm>
            <a:off x="1795654" y="2892158"/>
            <a:ext cx="8178645" cy="31541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014BBA-A0AB-A14E-9057-924429419098}"/>
              </a:ext>
            </a:extLst>
          </p:cNvPr>
          <p:cNvSpPr txBox="1"/>
          <p:nvPr/>
        </p:nvSpPr>
        <p:spPr>
          <a:xfrm>
            <a:off x="627176" y="1098332"/>
            <a:ext cx="3812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TL = transmitted – received signal level</a:t>
            </a:r>
          </a:p>
        </p:txBody>
      </p:sp>
    </p:spTree>
    <p:extLst>
      <p:ext uri="{BB962C8B-B14F-4D97-AF65-F5344CB8AC3E}">
        <p14:creationId xmlns:p14="http://schemas.microsoft.com/office/powerpoint/2010/main" val="2829580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71624F-EDBE-5B4D-89E5-D001697833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663" b="53523"/>
          <a:stretch/>
        </p:blipFill>
        <p:spPr>
          <a:xfrm>
            <a:off x="1784503" y="1690688"/>
            <a:ext cx="8178645" cy="12489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8485B7-2C23-7A4F-B888-6836716D24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7499"/>
          <a:stretch/>
        </p:blipFill>
        <p:spPr>
          <a:xfrm>
            <a:off x="1784503" y="3073003"/>
            <a:ext cx="8178645" cy="11800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11B2662-CA82-F240-A0F0-90DD608EFCE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6" t="93194" r="-136" b="792"/>
          <a:stretch/>
        </p:blipFill>
        <p:spPr>
          <a:xfrm>
            <a:off x="1795654" y="4207998"/>
            <a:ext cx="8178645" cy="31541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37A6AE8B-CA19-A341-83D3-58F2E8AD6A1B}"/>
              </a:ext>
            </a:extLst>
          </p:cNvPr>
          <p:cNvSpPr txBox="1">
            <a:spLocks/>
          </p:cNvSpPr>
          <p:nvPr/>
        </p:nvSpPr>
        <p:spPr>
          <a:xfrm>
            <a:off x="627176" y="-8092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CML processing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2878EC-032E-C041-A6DF-3620260E2125}"/>
              </a:ext>
            </a:extLst>
          </p:cNvPr>
          <p:cNvSpPr txBox="1"/>
          <p:nvPr/>
        </p:nvSpPr>
        <p:spPr>
          <a:xfrm>
            <a:off x="627176" y="1098332"/>
            <a:ext cx="88014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rolling standard deviation (60 minute), together with a </a:t>
            </a:r>
            <a:r>
              <a:rPr lang="en-US" dirty="0" err="1"/>
              <a:t>trehsold</a:t>
            </a:r>
            <a:r>
              <a:rPr lang="en-US" dirty="0"/>
              <a:t>, is used to detect rain events</a:t>
            </a:r>
          </a:p>
        </p:txBody>
      </p:sp>
    </p:spTree>
    <p:extLst>
      <p:ext uri="{BB962C8B-B14F-4D97-AF65-F5344CB8AC3E}">
        <p14:creationId xmlns:p14="http://schemas.microsoft.com/office/powerpoint/2010/main" val="1759125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71624F-EDBE-5B4D-89E5-D001697833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663" b="53523"/>
          <a:stretch/>
        </p:blipFill>
        <p:spPr>
          <a:xfrm>
            <a:off x="1784503" y="1690688"/>
            <a:ext cx="8178645" cy="12489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8485B7-2C23-7A4F-B888-6836716D24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7499"/>
          <a:stretch/>
        </p:blipFill>
        <p:spPr>
          <a:xfrm>
            <a:off x="1784503" y="3073003"/>
            <a:ext cx="8178645" cy="11800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11B2662-CA82-F240-A0F0-90DD608EFCE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6" t="93194" r="-136" b="792"/>
          <a:stretch/>
        </p:blipFill>
        <p:spPr>
          <a:xfrm>
            <a:off x="1795654" y="4207998"/>
            <a:ext cx="8178645" cy="31541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37A6AE8B-CA19-A341-83D3-58F2E8AD6A1B}"/>
              </a:ext>
            </a:extLst>
          </p:cNvPr>
          <p:cNvSpPr txBox="1">
            <a:spLocks/>
          </p:cNvSpPr>
          <p:nvPr/>
        </p:nvSpPr>
        <p:spPr>
          <a:xfrm>
            <a:off x="627176" y="-8092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CML processing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2878EC-032E-C041-A6DF-3620260E2125}"/>
              </a:ext>
            </a:extLst>
          </p:cNvPr>
          <p:cNvSpPr txBox="1"/>
          <p:nvPr/>
        </p:nvSpPr>
        <p:spPr>
          <a:xfrm>
            <a:off x="627176" y="1098332"/>
            <a:ext cx="88014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rolling standard deviation (60 minute), together with a </a:t>
            </a:r>
            <a:r>
              <a:rPr lang="en-US" dirty="0" err="1"/>
              <a:t>trehsold</a:t>
            </a:r>
            <a:r>
              <a:rPr lang="en-US" dirty="0"/>
              <a:t>, is used to detect rain events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4303DE-33CF-A74E-A878-E455CEF08C0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2408" b="52076"/>
          <a:stretch/>
        </p:blipFill>
        <p:spPr>
          <a:xfrm>
            <a:off x="1795654" y="1694677"/>
            <a:ext cx="8178645" cy="1338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071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37A6AE8B-CA19-A341-83D3-58F2E8AD6A1B}"/>
              </a:ext>
            </a:extLst>
          </p:cNvPr>
          <p:cNvSpPr txBox="1">
            <a:spLocks/>
          </p:cNvSpPr>
          <p:nvPr/>
        </p:nvSpPr>
        <p:spPr>
          <a:xfrm>
            <a:off x="627176" y="-8092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CML processing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2878EC-032E-C041-A6DF-3620260E2125}"/>
              </a:ext>
            </a:extLst>
          </p:cNvPr>
          <p:cNvSpPr txBox="1"/>
          <p:nvPr/>
        </p:nvSpPr>
        <p:spPr>
          <a:xfrm>
            <a:off x="627176" y="1098332"/>
            <a:ext cx="75817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baseline during rainy periods is estimate</a:t>
            </a:r>
          </a:p>
          <a:p>
            <a:r>
              <a:rPr lang="en-US" dirty="0"/>
              <a:t>wet antenna attenuation (from rain drops on the antennas) is compensated for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C41A4B4-5913-9F41-A964-AAD1AB310A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7854"/>
          <a:stretch/>
        </p:blipFill>
        <p:spPr>
          <a:xfrm>
            <a:off x="1806805" y="1728580"/>
            <a:ext cx="8178645" cy="378366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6C8F6FC-2695-ED4E-B68A-D912178A7479}"/>
              </a:ext>
            </a:extLst>
          </p:cNvPr>
          <p:cNvSpPr/>
          <p:nvPr/>
        </p:nvSpPr>
        <p:spPr>
          <a:xfrm>
            <a:off x="1683834" y="4215161"/>
            <a:ext cx="8653346" cy="15834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326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37A6AE8B-CA19-A341-83D3-58F2E8AD6A1B}"/>
              </a:ext>
            </a:extLst>
          </p:cNvPr>
          <p:cNvSpPr txBox="1">
            <a:spLocks/>
          </p:cNvSpPr>
          <p:nvPr/>
        </p:nvSpPr>
        <p:spPr>
          <a:xfrm>
            <a:off x="627176" y="-8092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CML processing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2878EC-032E-C041-A6DF-3620260E2125}"/>
              </a:ext>
            </a:extLst>
          </p:cNvPr>
          <p:cNvSpPr txBox="1"/>
          <p:nvPr/>
        </p:nvSpPr>
        <p:spPr>
          <a:xfrm>
            <a:off x="627176" y="1098332"/>
            <a:ext cx="4292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via the k-R relation, rain rates are calculated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C41A4B4-5913-9F41-A964-AAD1AB310A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b="-10071"/>
          <a:stretch/>
        </p:blipFill>
        <p:spPr>
          <a:xfrm>
            <a:off x="1791306" y="1604594"/>
            <a:ext cx="8178645" cy="577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696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37A6AE8B-CA19-A341-83D3-58F2E8AD6A1B}"/>
              </a:ext>
            </a:extLst>
          </p:cNvPr>
          <p:cNvSpPr txBox="1">
            <a:spLocks/>
          </p:cNvSpPr>
          <p:nvPr/>
        </p:nvSpPr>
        <p:spPr>
          <a:xfrm>
            <a:off x="627176" y="13605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... switching to the notebook now</a:t>
            </a:r>
          </a:p>
        </p:txBody>
      </p:sp>
    </p:spTree>
    <p:extLst>
      <p:ext uri="{BB962C8B-B14F-4D97-AF65-F5344CB8AC3E}">
        <p14:creationId xmlns:p14="http://schemas.microsoft.com/office/powerpoint/2010/main" val="3361455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554</TotalTime>
  <Words>149</Words>
  <Application>Microsoft Macintosh PowerPoint</Application>
  <PresentationFormat>Widescreen</PresentationFormat>
  <Paragraphs>29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Office Theme</vt:lpstr>
      <vt:lpstr>Commercial microwave links </vt:lpstr>
      <vt:lpstr>PowerPoint Presentation</vt:lpstr>
      <vt:lpstr>CML processing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7</cp:revision>
  <dcterms:created xsi:type="dcterms:W3CDTF">2025-03-31T13:57:55Z</dcterms:created>
  <dcterms:modified xsi:type="dcterms:W3CDTF">2025-04-01T05:02:02Z</dcterms:modified>
</cp:coreProperties>
</file>