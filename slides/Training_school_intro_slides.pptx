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57" r:id="rId2"/>
    <p:sldId id="339" r:id="rId3"/>
    <p:sldId id="350" r:id="rId4"/>
    <p:sldId id="369" r:id="rId5"/>
    <p:sldId id="370" r:id="rId6"/>
    <p:sldId id="371" r:id="rId7"/>
    <p:sldId id="362" r:id="rId8"/>
    <p:sldId id="364" r:id="rId9"/>
    <p:sldId id="363" r:id="rId10"/>
    <p:sldId id="372" r:id="rId11"/>
    <p:sldId id="257" r:id="rId12"/>
    <p:sldId id="258" r:id="rId13"/>
    <p:sldId id="340" r:id="rId14"/>
    <p:sldId id="374" r:id="rId15"/>
    <p:sldId id="37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6"/>
    <p:restoredTop sz="94628"/>
  </p:normalViewPr>
  <p:slideViewPr>
    <p:cSldViewPr snapToGrid="0" snapToObjects="1">
      <p:cViewPr varScale="1">
        <p:scale>
          <a:sx n="115" d="100"/>
          <a:sy n="115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4EE30-8AE7-4643-9724-F4EAB73694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70A75-EE80-7648-ACB0-9EDD5217E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6489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comment: we take pictures..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70A75-EE80-7648-ACB0-9EDD5217EB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0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4FB6-8E6F-7B49-B452-96198C387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3BCEF-16BB-7D4F-9B18-18A014123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D3EB0-E28E-D140-9C4F-ED0212C0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38366-198F-5D41-BF39-7F0E6417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97D72-92A0-514B-8718-A0CAE42D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7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627A-58C7-D849-A699-08EE298B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42D0-A7FE-EA41-BFDD-24CA11EE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DA4F-132D-7047-BB96-24FFF128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F968F-C49F-944C-99D0-B9121D00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1A232-2FF1-614A-9F7D-E88DFDFD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8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F244-BC99-1E48-B145-DD021833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AB490-9360-6843-8C96-9AD9E808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574C7-AE13-654D-B8A3-9D65F2F3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7CB6-2D67-B341-986A-CA729EAE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C095-5FF5-4A41-9372-605EC3A0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2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DBA7-1118-F24E-BBBA-98DA2D7D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BDEB0-DFED-DA45-9300-F8DB34304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8CF1D-3EC8-C54F-9939-48EE3EC7A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2C1FC-15FD-8442-95A2-63AC1FE3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1D75D-FB9D-B441-B21E-A9D71A8B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17DA6-F0FA-7A4B-BDAE-A6C39C11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7F8E-456A-6C43-9569-D9B3B718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3D211-8D76-184E-98A8-A0691FE8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74DEC-2167-9F40-AF1A-5D5CF3FF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EA9BD-A382-2F4C-B2E3-5E68B0CD6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AD7C6-3FBA-394D-8E62-03FDF2A8E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9DB39-DB16-6C48-9D5F-9C11CE94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DF7E2-0F7F-9741-B344-E17DA00FF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509D3-BDDF-A84F-9DB2-E50C9CC9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6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9DAA-C059-E048-B6F4-3F7AC4D6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12ED1-6F51-BE41-990F-CEB56D96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92CAA-69B5-B149-A6A5-76936AC8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3F52B-71F2-2544-8A8E-B2300E4F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8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ECB1E-25D8-CD44-9F86-C703902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E30B4-04D9-5C4A-A397-C58D469B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8EAA9-191D-9B43-B46E-C7B39CCB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8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8262-809D-BA49-AA69-3BE0F6C5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F2F1E-0252-ED45-BB36-CFC68563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BA05E-3E6A-C84E-A840-C2EEA7F0E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BE470-7ABD-A94F-9A80-CE18D7BF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477CF-7E96-4F4B-AE8D-F67A7EF7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F75F4-0111-F748-A2DE-764B9341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1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1B68-0EE5-0044-BB3F-2D3A7CCB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8CD8E-C18F-534C-B9B7-9E188BD56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C4143-3499-C544-8F13-4AC27C131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722D0-77E8-D841-B531-7E1A3ECB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A7CF7-973D-AD4C-9E19-BABDBFB5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A455-4D1B-3D4B-A793-D1B67B9B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8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38A4-3677-4A4F-A86B-B760BE26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64791-E978-B44A-9028-A3C6EA9A7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84A7A-1B51-6048-B3C4-2A31A45E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2B9C4-FADA-B847-8AC9-038E31B5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1C4-920A-D840-9346-A9E99111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9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C6030-3E08-2B4D-BDB4-D61461541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92C49-BEA4-384D-9A99-CB0743C65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F425-612F-3548-AEFF-A22F9B26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526A8-2E4A-6F4F-9838-CA7FD7F5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4025-4C7B-8944-9EF4-A9888E7B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2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221167" y="928400"/>
            <a:ext cx="11555200" cy="5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it" smtClean="0"/>
              <a:pPr/>
              <a:t>‹#›</a:t>
            </a:fld>
            <a:endParaRPr lang="it"/>
          </a:p>
        </p:txBody>
      </p:sp>
    </p:spTree>
    <p:extLst>
      <p:ext uri="{BB962C8B-B14F-4D97-AF65-F5344CB8AC3E}">
        <p14:creationId xmlns:p14="http://schemas.microsoft.com/office/powerpoint/2010/main" val="19521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16510-3214-5045-9D38-6BF0BDAA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38CBA-9550-7E4F-B784-E108B0AE6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C6D9F-E49E-634F-B87E-F08B6A126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5215F-808A-F340-B288-95710873F6F8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5560-0F66-D541-803D-4E24BD11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CB9E0-4BE8-9E48-B463-B34D2B51B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C1EA1-64EE-0340-8C1E-BD30CD25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3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senseaction.eu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281/zenodo.10593848" TargetMode="External"/><Relationship Id="rId2" Type="http://schemas.openxmlformats.org/officeDocument/2006/relationships/hyperlink" Target="https://doi.org/10.5194/essd-14-5411-2022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comlink/pycomlink" TargetMode="External"/><Relationship Id="rId2" Type="http://schemas.openxmlformats.org/officeDocument/2006/relationships/hyperlink" Target="https://github.com/OpenSenseAction/poligrain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hyperlink" Target="https://github.com/OpenSenseAction" TargetMode="External"/><Relationship Id="rId4" Type="http://schemas.openxmlformats.org/officeDocument/2006/relationships/hyperlink" Target="https://github.com/OpenSenseAction/pypwsq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comlink/pycomlink" TargetMode="External"/><Relationship Id="rId2" Type="http://schemas.openxmlformats.org/officeDocument/2006/relationships/hyperlink" Target="https://github.com/OpenSenseAction/poligr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OpenSenseAction" TargetMode="External"/><Relationship Id="rId4" Type="http://schemas.openxmlformats.org/officeDocument/2006/relationships/hyperlink" Target="https://github.com/OpenSenseAction/pypwsqc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BV_hydrology_model" TargetMode="External"/><Relationship Id="rId2" Type="http://schemas.openxmlformats.org/officeDocument/2006/relationships/hyperlink" Target="https://pysteps.github.io/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08220"/>
            <a:ext cx="3287034" cy="1542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A blue text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789" y="174180"/>
            <a:ext cx="3287034" cy="75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descr="A blue and white flag with white star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0378" y="5548612"/>
            <a:ext cx="1171950" cy="118807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995346" y="5892952"/>
            <a:ext cx="4201297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D1D1B"/>
                </a:solidFill>
                <a:latin typeface="Roboto Light"/>
                <a:ea typeface="Roboto Light"/>
                <a:cs typeface="Roboto Light"/>
                <a:sym typeface="Roboto Light"/>
              </a:rPr>
              <a:t>COST (European Cooperation in Science and Technology) is a funding agency for research and innovation networks. Our Actions help connect research initiatives across Europe and enable </a:t>
            </a:r>
            <a:r>
              <a:rPr lang="en-US" sz="1050">
                <a:solidFill>
                  <a:srgbClr val="1D1D1B"/>
                </a:solidFill>
                <a:latin typeface="Roboto Light"/>
                <a:ea typeface="Roboto Light"/>
                <a:cs typeface="Roboto Light"/>
                <a:sym typeface="Roboto Light"/>
              </a:rPr>
              <a:t>scientists</a:t>
            </a:r>
            <a:r>
              <a:rPr lang="en-US" sz="1050" b="0" i="0" u="none" strike="noStrike" cap="none">
                <a:solidFill>
                  <a:srgbClr val="1D1D1B"/>
                </a:solidFill>
                <a:latin typeface="Roboto Light"/>
                <a:ea typeface="Roboto Light"/>
                <a:cs typeface="Roboto Light"/>
                <a:sym typeface="Roboto Light"/>
              </a:rPr>
              <a:t> to grow their ideas by sharing them with their peers. This boosts their research, career and innovation.</a:t>
            </a:r>
            <a:endParaRPr lang="en-US"/>
          </a:p>
        </p:txBody>
      </p:sp>
      <p:sp>
        <p:nvSpPr>
          <p:cNvPr id="89" name="Google Shape;89;p1"/>
          <p:cNvSpPr txBox="1"/>
          <p:nvPr/>
        </p:nvSpPr>
        <p:spPr>
          <a:xfrm>
            <a:off x="10671665" y="396415"/>
            <a:ext cx="12506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www.cost.eu</a:t>
            </a:r>
            <a:endParaRPr lang="en-US"/>
          </a:p>
        </p:txBody>
      </p:sp>
      <p:sp>
        <p:nvSpPr>
          <p:cNvPr id="90" name="Google Shape;90;p1"/>
          <p:cNvSpPr txBox="1"/>
          <p:nvPr/>
        </p:nvSpPr>
        <p:spPr>
          <a:xfrm>
            <a:off x="1624052" y="2974336"/>
            <a:ext cx="894388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4595F"/>
                </a:solidFill>
                <a:latin typeface="Arial"/>
                <a:ea typeface="Arial"/>
                <a:cs typeface="Arial"/>
                <a:sym typeface="Arial"/>
              </a:rPr>
              <a:t>01. – 04. April 2025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4595F"/>
                </a:solidFill>
                <a:latin typeface="Arial"/>
                <a:ea typeface="Arial"/>
                <a:cs typeface="Arial"/>
                <a:sym typeface="Arial"/>
              </a:rPr>
              <a:t>Budapest University of Technology and Economics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54595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4595F"/>
                </a:solidFill>
                <a:latin typeface="Arial"/>
                <a:ea typeface="Arial"/>
                <a:cs typeface="Arial"/>
                <a:sym typeface="Arial"/>
              </a:rPr>
              <a:t>OPENSENSE brings together scientists investigating different opportunistic sensors, experts from national weather services, owners of sensor networks, and end-users of rainfall products to build a worldwide reference opportunistic sensing community.</a:t>
            </a:r>
            <a:endParaRPr lang="en-US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108366" y="5409819"/>
            <a:ext cx="39752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https://opensenseaction.eu/</a:t>
            </a:r>
            <a:endParaRPr lang="en-US" sz="2400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" name="Google Shape;88;p1">
            <a:extLst>
              <a:ext uri="{FF2B5EF4-FFF2-40B4-BE49-F238E27FC236}">
                <a16:creationId xmlns:a16="http://schemas.microsoft.com/office/drawing/2014/main" id="{E47F0DC5-5FB1-0848-B027-212265017E1D}"/>
              </a:ext>
            </a:extLst>
          </p:cNvPr>
          <p:cNvSpPr txBox="1"/>
          <p:nvPr/>
        </p:nvSpPr>
        <p:spPr>
          <a:xfrm>
            <a:off x="2393697" y="1883760"/>
            <a:ext cx="740459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C75BC"/>
                </a:solidFill>
                <a:latin typeface="Roboto Light"/>
                <a:ea typeface="Roboto Light"/>
                <a:cs typeface="Roboto Light"/>
                <a:sym typeface="Roboto Light"/>
              </a:rPr>
              <a:t>Training School on Merging and Application of Opportunistic Rainfall Sensor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63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BA7C7-F921-0CC2-C103-66676F4C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What is „Opportunistic Precipitation Sensing“?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00328B-C1DA-D536-F009-708CCA6A2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6" name="Google Shape;148;g2ffd62d3467_0_0">
            <a:extLst>
              <a:ext uri="{FF2B5EF4-FFF2-40B4-BE49-F238E27FC236}">
                <a16:creationId xmlns:a16="http://schemas.microsoft.com/office/drawing/2014/main" id="{2051C92B-75C7-742B-92CD-6FE41B2E2020}"/>
              </a:ext>
            </a:extLst>
          </p:cNvPr>
          <p:cNvSpPr txBox="1"/>
          <p:nvPr/>
        </p:nvSpPr>
        <p:spPr>
          <a:xfrm>
            <a:off x="209354" y="5196458"/>
            <a:ext cx="4736845" cy="11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CML</a:t>
            </a:r>
          </a:p>
          <a:p>
            <a:pPr algn="ctr">
              <a:buClr>
                <a:srgbClr val="000000"/>
              </a:buClr>
              <a:buSzPts val="1600"/>
            </a:pPr>
            <a:endParaRPr lang="en-US" sz="2133" noProof="1">
              <a:solidFill>
                <a:schemeClr val="dk2"/>
              </a:solidFill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Commercial microwave link</a:t>
            </a:r>
            <a:endParaRPr lang="en-US" sz="2133" noProof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49;g2ffd62d3467_0_0">
            <a:extLst>
              <a:ext uri="{FF2B5EF4-FFF2-40B4-BE49-F238E27FC236}">
                <a16:creationId xmlns:a16="http://schemas.microsoft.com/office/drawing/2014/main" id="{7A319F44-344F-3594-3057-B2D65D481C75}"/>
              </a:ext>
            </a:extLst>
          </p:cNvPr>
          <p:cNvSpPr txBox="1"/>
          <p:nvPr/>
        </p:nvSpPr>
        <p:spPr>
          <a:xfrm>
            <a:off x="4927818" y="5196458"/>
            <a:ext cx="4183215" cy="11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SML</a:t>
            </a:r>
          </a:p>
          <a:p>
            <a:pPr algn="ctr">
              <a:buClr>
                <a:srgbClr val="000000"/>
              </a:buClr>
              <a:buSzPts val="1600"/>
            </a:pPr>
            <a:endParaRPr lang="en-US" sz="2133" noProof="1">
              <a:solidFill>
                <a:schemeClr val="dk2"/>
              </a:solidFill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Satellite microwave link</a:t>
            </a:r>
            <a:endParaRPr lang="en-US" sz="2133" noProof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50;g2ffd62d3467_0_0">
            <a:extLst>
              <a:ext uri="{FF2B5EF4-FFF2-40B4-BE49-F238E27FC236}">
                <a16:creationId xmlns:a16="http://schemas.microsoft.com/office/drawing/2014/main" id="{3440F564-5B95-9415-D55A-8AFBE9A047EF}"/>
              </a:ext>
            </a:extLst>
          </p:cNvPr>
          <p:cNvSpPr txBox="1"/>
          <p:nvPr/>
        </p:nvSpPr>
        <p:spPr>
          <a:xfrm>
            <a:off x="8784768" y="5196458"/>
            <a:ext cx="3530379" cy="143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PWS</a:t>
            </a:r>
          </a:p>
          <a:p>
            <a:pPr algn="ctr">
              <a:buClr>
                <a:srgbClr val="000000"/>
              </a:buClr>
              <a:buSzPts val="1600"/>
            </a:pPr>
            <a:endParaRPr lang="en-US" sz="2133" noProof="1">
              <a:solidFill>
                <a:schemeClr val="dk2"/>
              </a:solidFill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Personal </a:t>
            </a:r>
          </a:p>
          <a:p>
            <a:pPr algn="ctr">
              <a:buClr>
                <a:srgbClr val="000000"/>
              </a:buClr>
              <a:buSzPts val="1600"/>
            </a:pPr>
            <a:r>
              <a:rPr lang="en-US" sz="2133" noProof="1">
                <a:solidFill>
                  <a:schemeClr val="dk2"/>
                </a:solidFill>
              </a:rPr>
              <a:t>weather station</a:t>
            </a:r>
            <a:endParaRPr lang="en-US" sz="2133" noProof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2EA682-6FAB-FA87-C596-653CDBA4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167" y="928400"/>
            <a:ext cx="11555200" cy="1013552"/>
          </a:xfrm>
        </p:spPr>
        <p:txBody>
          <a:bodyPr>
            <a:normAutofit fontScale="92500" lnSpcReduction="20000"/>
          </a:bodyPr>
          <a:lstStyle/>
          <a:p>
            <a:pPr marL="152396" indent="0">
              <a:buNone/>
            </a:pPr>
            <a:r>
              <a:rPr lang="en-US" noProof="1"/>
              <a:t>To opportunistically (in a positive sense) use data from devices that were not meant to measure rainfall or which where not meant to provide high-quality rainfall data.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7223021-F47E-52C3-887D-44A4EE552BF1}"/>
              </a:ext>
            </a:extLst>
          </p:cNvPr>
          <p:cNvGrpSpPr/>
          <p:nvPr/>
        </p:nvGrpSpPr>
        <p:grpSpPr>
          <a:xfrm>
            <a:off x="342206" y="2138691"/>
            <a:ext cx="4559225" cy="3086828"/>
            <a:chOff x="256654" y="1604018"/>
            <a:chExt cx="3419419" cy="2315121"/>
          </a:xfrm>
        </p:grpSpPr>
        <p:pic>
          <p:nvPicPr>
            <p:cNvPr id="5" name="Google Shape;147;g2ffd62d3467_0_0">
              <a:extLst>
                <a:ext uri="{FF2B5EF4-FFF2-40B4-BE49-F238E27FC236}">
                  <a16:creationId xmlns:a16="http://schemas.microsoft.com/office/drawing/2014/main" id="{EF22B2FF-7CD0-9DAA-B8CD-FA28572D5F43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1" r="60543"/>
            <a:stretch/>
          </p:blipFill>
          <p:spPr>
            <a:xfrm>
              <a:off x="256654" y="1604018"/>
              <a:ext cx="3419419" cy="2315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0AA7E0D-561D-B9ED-7FE7-BF4C3AAB2D84}"/>
                </a:ext>
              </a:extLst>
            </p:cNvPr>
            <p:cNvSpPr/>
            <p:nvPr/>
          </p:nvSpPr>
          <p:spPr>
            <a:xfrm>
              <a:off x="1662545" y="3528291"/>
              <a:ext cx="544945" cy="314037"/>
            </a:xfrm>
            <a:prstGeom prst="rect">
              <a:avLst/>
            </a:prstGeom>
            <a:solidFill>
              <a:srgbClr val="DDEB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0C7242B1-BA83-473E-285D-ED5AEBAE2F3E}"/>
                </a:ext>
              </a:extLst>
            </p:cNvPr>
            <p:cNvSpPr/>
            <p:nvPr/>
          </p:nvSpPr>
          <p:spPr>
            <a:xfrm>
              <a:off x="311700" y="1662048"/>
              <a:ext cx="544945" cy="314037"/>
            </a:xfrm>
            <a:prstGeom prst="rect">
              <a:avLst/>
            </a:prstGeom>
            <a:solidFill>
              <a:srgbClr val="DDEB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C79545F-27BA-E756-B838-E3CC6AAA93DF}"/>
              </a:ext>
            </a:extLst>
          </p:cNvPr>
          <p:cNvGrpSpPr/>
          <p:nvPr/>
        </p:nvGrpSpPr>
        <p:grpSpPr>
          <a:xfrm>
            <a:off x="4901432" y="2138691"/>
            <a:ext cx="4347249" cy="3086828"/>
            <a:chOff x="3676073" y="1604018"/>
            <a:chExt cx="3260437" cy="2315121"/>
          </a:xfrm>
        </p:grpSpPr>
        <p:pic>
          <p:nvPicPr>
            <p:cNvPr id="10" name="Google Shape;147;g2ffd62d3467_0_0">
              <a:extLst>
                <a:ext uri="{FF2B5EF4-FFF2-40B4-BE49-F238E27FC236}">
                  <a16:creationId xmlns:a16="http://schemas.microsoft.com/office/drawing/2014/main" id="{948AA195-54C0-16AB-29BA-31F15BFD7BF7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39390" r="22989"/>
            <a:stretch/>
          </p:blipFill>
          <p:spPr>
            <a:xfrm>
              <a:off x="3676073" y="1604018"/>
              <a:ext cx="3260437" cy="2315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B6DED4B-A6B5-A4A5-A07D-8F739B30FAFE}"/>
                </a:ext>
              </a:extLst>
            </p:cNvPr>
            <p:cNvSpPr/>
            <p:nvPr/>
          </p:nvSpPr>
          <p:spPr>
            <a:xfrm>
              <a:off x="3778600" y="1674395"/>
              <a:ext cx="544945" cy="314037"/>
            </a:xfrm>
            <a:prstGeom prst="rect">
              <a:avLst/>
            </a:prstGeom>
            <a:solidFill>
              <a:srgbClr val="FBD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EA6DF20-95E4-35C2-3FE6-4CC255BEE9DA}"/>
              </a:ext>
            </a:extLst>
          </p:cNvPr>
          <p:cNvGrpSpPr/>
          <p:nvPr/>
        </p:nvGrpSpPr>
        <p:grpSpPr>
          <a:xfrm>
            <a:off x="9248681" y="2138691"/>
            <a:ext cx="2601115" cy="3086828"/>
            <a:chOff x="6936511" y="1604018"/>
            <a:chExt cx="1950836" cy="2315121"/>
          </a:xfrm>
        </p:grpSpPr>
        <p:pic>
          <p:nvPicPr>
            <p:cNvPr id="11" name="Google Shape;147;g2ffd62d3467_0_0">
              <a:extLst>
                <a:ext uri="{FF2B5EF4-FFF2-40B4-BE49-F238E27FC236}">
                  <a16:creationId xmlns:a16="http://schemas.microsoft.com/office/drawing/2014/main" id="{706156F0-8FFF-75EB-4BE7-968DC914BA58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77051" r="438"/>
            <a:stretch/>
          </p:blipFill>
          <p:spPr>
            <a:xfrm>
              <a:off x="6936511" y="1604018"/>
              <a:ext cx="1950836" cy="2315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958F489-D15C-BD9D-E4BC-0821178EBF3E}"/>
                </a:ext>
              </a:extLst>
            </p:cNvPr>
            <p:cNvSpPr/>
            <p:nvPr/>
          </p:nvSpPr>
          <p:spPr>
            <a:xfrm>
              <a:off x="7018228" y="1661551"/>
              <a:ext cx="537118" cy="176490"/>
            </a:xfrm>
            <a:prstGeom prst="rect">
              <a:avLst/>
            </a:prstGeom>
            <a:solidFill>
              <a:srgbClr val="C7D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8B08A230-7484-CB5A-2176-78404589DA1C}"/>
                </a:ext>
              </a:extLst>
            </p:cNvPr>
            <p:cNvSpPr/>
            <p:nvPr/>
          </p:nvSpPr>
          <p:spPr>
            <a:xfrm>
              <a:off x="8020374" y="3647368"/>
              <a:ext cx="537118" cy="176490"/>
            </a:xfrm>
            <a:prstGeom prst="rect">
              <a:avLst/>
            </a:prstGeom>
            <a:solidFill>
              <a:srgbClr val="C7D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07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F18C-FCA0-C1E5-DC74-F404FFE1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3BBA0-8CB1-5B38-D520-CDAFCDD8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goals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OpenSense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04099A-63B5-DC50-8C95-3C4F81899F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7" name="Google Shape;118;g2b6848bcffe_0_162">
            <a:extLst>
              <a:ext uri="{FF2B5EF4-FFF2-40B4-BE49-F238E27FC236}">
                <a16:creationId xmlns:a16="http://schemas.microsoft.com/office/drawing/2014/main" id="{5124E7CF-E386-B1FA-0BBA-05B07F4DF240}"/>
              </a:ext>
            </a:extLst>
          </p:cNvPr>
          <p:cNvSpPr txBox="1"/>
          <p:nvPr/>
        </p:nvSpPr>
        <p:spPr>
          <a:xfrm>
            <a:off x="934551" y="1805240"/>
            <a:ext cx="6716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1;g2b6848bcffe_0_162">
            <a:extLst>
              <a:ext uri="{FF2B5EF4-FFF2-40B4-BE49-F238E27FC236}">
                <a16:creationId xmlns:a16="http://schemas.microsoft.com/office/drawing/2014/main" id="{AF6D8805-B6BB-0A12-5A97-C384A3FF776D}"/>
              </a:ext>
            </a:extLst>
          </p:cNvPr>
          <p:cNvSpPr txBox="1"/>
          <p:nvPr/>
        </p:nvSpPr>
        <p:spPr>
          <a:xfrm rot="-5400000">
            <a:off x="-221655" y="3203417"/>
            <a:ext cx="2586400" cy="82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700"/>
            </a:pPr>
            <a:r>
              <a:rPr lang="en-US" sz="2267" b="1" i="1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Connect experts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700"/>
            </a:pPr>
            <a:endParaRPr sz="2267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2;g2b6848bcffe_0_162">
            <a:extLst>
              <a:ext uri="{FF2B5EF4-FFF2-40B4-BE49-F238E27FC236}">
                <a16:creationId xmlns:a16="http://schemas.microsoft.com/office/drawing/2014/main" id="{5ACA5DA9-E9A1-A625-4071-7C9562117C2D}"/>
              </a:ext>
            </a:extLst>
          </p:cNvPr>
          <p:cNvSpPr txBox="1"/>
          <p:nvPr/>
        </p:nvSpPr>
        <p:spPr>
          <a:xfrm>
            <a:off x="4170264" y="1677842"/>
            <a:ext cx="3472800" cy="4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700"/>
            </a:pPr>
            <a:r>
              <a:rPr lang="en-US" sz="2267" b="1" i="1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Connect stakeholders</a:t>
            </a:r>
            <a:endParaRPr sz="2267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3;g2b6848bcffe_0_162">
            <a:extLst>
              <a:ext uri="{FF2B5EF4-FFF2-40B4-BE49-F238E27FC236}">
                <a16:creationId xmlns:a16="http://schemas.microsoft.com/office/drawing/2014/main" id="{4B6CB9B8-9E74-C6B3-DB8A-848F11FEDC2F}"/>
              </a:ext>
            </a:extLst>
          </p:cNvPr>
          <p:cNvSpPr/>
          <p:nvPr/>
        </p:nvSpPr>
        <p:spPr>
          <a:xfrm>
            <a:off x="1267127" y="2407265"/>
            <a:ext cx="6187600" cy="52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Hydrology &amp; meteorology</a:t>
            </a:r>
            <a:endParaRPr sz="1867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4;g2b6848bcffe_0_162">
            <a:extLst>
              <a:ext uri="{FF2B5EF4-FFF2-40B4-BE49-F238E27FC236}">
                <a16:creationId xmlns:a16="http://schemas.microsoft.com/office/drawing/2014/main" id="{3B9C6609-BAAC-F511-28AC-42A033948581}"/>
              </a:ext>
            </a:extLst>
          </p:cNvPr>
          <p:cNvSpPr/>
          <p:nvPr/>
        </p:nvSpPr>
        <p:spPr>
          <a:xfrm>
            <a:off x="1267127" y="3062188"/>
            <a:ext cx="6187600" cy="528000"/>
          </a:xfrm>
          <a:prstGeom prst="rect">
            <a:avLst/>
          </a:prstGeom>
          <a:solidFill>
            <a:srgbClr val="3865B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Radio-wave propagation</a:t>
            </a: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5;g2b6848bcffe_0_162">
            <a:extLst>
              <a:ext uri="{FF2B5EF4-FFF2-40B4-BE49-F238E27FC236}">
                <a16:creationId xmlns:a16="http://schemas.microsoft.com/office/drawing/2014/main" id="{94F09934-4F15-08C4-8933-A9640D5AC333}"/>
              </a:ext>
            </a:extLst>
          </p:cNvPr>
          <p:cNvSpPr/>
          <p:nvPr/>
        </p:nvSpPr>
        <p:spPr>
          <a:xfrm>
            <a:off x="1277940" y="3717111"/>
            <a:ext cx="6177200" cy="528000"/>
          </a:xfrm>
          <a:prstGeom prst="rect">
            <a:avLst/>
          </a:prstGeom>
          <a:solidFill>
            <a:srgbClr val="668CD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Signal processing</a:t>
            </a: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26;g2b6848bcffe_0_162">
            <a:extLst>
              <a:ext uri="{FF2B5EF4-FFF2-40B4-BE49-F238E27FC236}">
                <a16:creationId xmlns:a16="http://schemas.microsoft.com/office/drawing/2014/main" id="{A6A1700B-8AEA-D83A-BE3B-8445B9BADE4D}"/>
              </a:ext>
            </a:extLst>
          </p:cNvPr>
          <p:cNvSpPr/>
          <p:nvPr/>
        </p:nvSpPr>
        <p:spPr>
          <a:xfrm>
            <a:off x="1277940" y="4372032"/>
            <a:ext cx="6177200" cy="528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Telecommunication</a:t>
            </a: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27;g2b6848bcffe_0_162">
            <a:extLst>
              <a:ext uri="{FF2B5EF4-FFF2-40B4-BE49-F238E27FC236}">
                <a16:creationId xmlns:a16="http://schemas.microsoft.com/office/drawing/2014/main" id="{2E945EFD-EAF8-2D85-2F26-A62B6849993C}"/>
              </a:ext>
            </a:extLst>
          </p:cNvPr>
          <p:cNvSpPr/>
          <p:nvPr/>
        </p:nvSpPr>
        <p:spPr>
          <a:xfrm rot="-5400000">
            <a:off x="3387263" y="3300704"/>
            <a:ext cx="2784000" cy="62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owners</a:t>
            </a:r>
            <a:endParaRPr sz="1867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28;g2b6848bcffe_0_162">
            <a:extLst>
              <a:ext uri="{FF2B5EF4-FFF2-40B4-BE49-F238E27FC236}">
                <a16:creationId xmlns:a16="http://schemas.microsoft.com/office/drawing/2014/main" id="{36B92B75-2206-6940-8482-159F3CA5A8DD}"/>
              </a:ext>
            </a:extLst>
          </p:cNvPr>
          <p:cNvSpPr/>
          <p:nvPr/>
        </p:nvSpPr>
        <p:spPr>
          <a:xfrm rot="-5400000">
            <a:off x="4443019" y="3304577"/>
            <a:ext cx="2784000" cy="624000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Researchers</a:t>
            </a:r>
            <a:endParaRPr sz="1867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29;g2b6848bcffe_0_162">
            <a:extLst>
              <a:ext uri="{FF2B5EF4-FFF2-40B4-BE49-F238E27FC236}">
                <a16:creationId xmlns:a16="http://schemas.microsoft.com/office/drawing/2014/main" id="{1FD38BD4-E804-9AD4-F36C-A22E081E4602}"/>
              </a:ext>
            </a:extLst>
          </p:cNvPr>
          <p:cNvSpPr/>
          <p:nvPr/>
        </p:nvSpPr>
        <p:spPr>
          <a:xfrm rot="-5400000">
            <a:off x="5498775" y="3304579"/>
            <a:ext cx="2784000" cy="6240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30;g2b6848bcffe_0_162">
            <a:extLst>
              <a:ext uri="{FF2B5EF4-FFF2-40B4-BE49-F238E27FC236}">
                <a16:creationId xmlns:a16="http://schemas.microsoft.com/office/drawing/2014/main" id="{0AF2EB48-DBCD-3F36-63EA-00BA1E6415E2}"/>
              </a:ext>
            </a:extLst>
          </p:cNvPr>
          <p:cNvSpPr txBox="1"/>
          <p:nvPr/>
        </p:nvSpPr>
        <p:spPr>
          <a:xfrm>
            <a:off x="8475349" y="3334415"/>
            <a:ext cx="2716800" cy="6977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 b="1" dirty="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Improve reliability of OS observations</a:t>
            </a:r>
            <a:endParaRPr sz="1867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31;g2b6848bcffe_0_162">
            <a:extLst>
              <a:ext uri="{FF2B5EF4-FFF2-40B4-BE49-F238E27FC236}">
                <a16:creationId xmlns:a16="http://schemas.microsoft.com/office/drawing/2014/main" id="{0ADCE4AF-F921-1C27-5EAE-A1B97201D8C9}"/>
              </a:ext>
            </a:extLst>
          </p:cNvPr>
          <p:cNvSpPr txBox="1"/>
          <p:nvPr/>
        </p:nvSpPr>
        <p:spPr>
          <a:xfrm>
            <a:off x="8475349" y="4175049"/>
            <a:ext cx="2716800" cy="6977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 b="1" dirty="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Use OS in operational setting</a:t>
            </a:r>
            <a:endParaRPr sz="1867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32;g2b6848bcffe_0_162">
            <a:extLst>
              <a:ext uri="{FF2B5EF4-FFF2-40B4-BE49-F238E27FC236}">
                <a16:creationId xmlns:a16="http://schemas.microsoft.com/office/drawing/2014/main" id="{9B997E74-055B-FB4E-B910-24F8D4357A40}"/>
              </a:ext>
            </a:extLst>
          </p:cNvPr>
          <p:cNvSpPr txBox="1"/>
          <p:nvPr/>
        </p:nvSpPr>
        <p:spPr>
          <a:xfrm>
            <a:off x="8475349" y="2492717"/>
            <a:ext cx="2716800" cy="6977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 b="1" dirty="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Improve access to OS observations</a:t>
            </a:r>
            <a:endParaRPr sz="1867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33;g2b6848bcffe_0_162">
            <a:extLst>
              <a:ext uri="{FF2B5EF4-FFF2-40B4-BE49-F238E27FC236}">
                <a16:creationId xmlns:a16="http://schemas.microsoft.com/office/drawing/2014/main" id="{1C8A05AE-1978-1EC3-09B6-C0662EA1B35A}"/>
              </a:ext>
            </a:extLst>
          </p:cNvPr>
          <p:cNvSpPr/>
          <p:nvPr/>
        </p:nvSpPr>
        <p:spPr>
          <a:xfrm>
            <a:off x="7671776" y="2571553"/>
            <a:ext cx="434000" cy="58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34;g2b6848bcffe_0_162">
            <a:extLst>
              <a:ext uri="{FF2B5EF4-FFF2-40B4-BE49-F238E27FC236}">
                <a16:creationId xmlns:a16="http://schemas.microsoft.com/office/drawing/2014/main" id="{83F5C6F4-78C4-8EE0-3EBF-A4430077BEEF}"/>
              </a:ext>
            </a:extLst>
          </p:cNvPr>
          <p:cNvSpPr/>
          <p:nvPr/>
        </p:nvSpPr>
        <p:spPr>
          <a:xfrm>
            <a:off x="7650328" y="3364672"/>
            <a:ext cx="434000" cy="58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35;g2b6848bcffe_0_162">
            <a:extLst>
              <a:ext uri="{FF2B5EF4-FFF2-40B4-BE49-F238E27FC236}">
                <a16:creationId xmlns:a16="http://schemas.microsoft.com/office/drawing/2014/main" id="{B74399DF-CF50-B7A4-3A0C-063E2AB7200B}"/>
              </a:ext>
            </a:extLst>
          </p:cNvPr>
          <p:cNvSpPr/>
          <p:nvPr/>
        </p:nvSpPr>
        <p:spPr>
          <a:xfrm>
            <a:off x="7642888" y="4101841"/>
            <a:ext cx="434000" cy="58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541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DEC1-BB70-27CB-D564-B5EFE920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A3C81-3A8E-0A19-B9AC-BC37C582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 </a:t>
            </a:r>
            <a:r>
              <a:rPr lang="de-DE" dirty="0" err="1"/>
              <a:t>OpenSense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groups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591197-5689-1C73-7765-99F67739A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6" name="Google Shape;170;g2ffd62d3467_0_86">
            <a:extLst>
              <a:ext uri="{FF2B5EF4-FFF2-40B4-BE49-F238E27FC236}">
                <a16:creationId xmlns:a16="http://schemas.microsoft.com/office/drawing/2014/main" id="{E1DC8442-4CDC-8686-3D24-ED66925E2B99}"/>
              </a:ext>
            </a:extLst>
          </p:cNvPr>
          <p:cNvSpPr/>
          <p:nvPr/>
        </p:nvSpPr>
        <p:spPr>
          <a:xfrm>
            <a:off x="5430375" y="4419275"/>
            <a:ext cx="1234400" cy="1096800"/>
          </a:xfrm>
          <a:prstGeom prst="ellipse">
            <a:avLst/>
          </a:prstGeom>
          <a:solidFill>
            <a:srgbClr val="E06666"/>
          </a:solidFill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600" b="1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WG 5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  <a:p>
            <a:pPr algn="ctr">
              <a:buClr>
                <a:srgbClr val="000000"/>
              </a:buClr>
              <a:buSzPts val="1100"/>
            </a:pPr>
            <a:r>
              <a:rPr lang="en-US" sz="1200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capacity building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</p:txBody>
      </p:sp>
      <p:sp>
        <p:nvSpPr>
          <p:cNvPr id="15" name="Google Shape;169;g2ffd62d3467_0_86">
            <a:extLst>
              <a:ext uri="{FF2B5EF4-FFF2-40B4-BE49-F238E27FC236}">
                <a16:creationId xmlns:a16="http://schemas.microsoft.com/office/drawing/2014/main" id="{653C9FD1-8E88-18B1-BCF7-8F92009493DC}"/>
              </a:ext>
            </a:extLst>
          </p:cNvPr>
          <p:cNvSpPr/>
          <p:nvPr/>
        </p:nvSpPr>
        <p:spPr>
          <a:xfrm>
            <a:off x="3486192" y="2894841"/>
            <a:ext cx="1331200" cy="10968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600" b="1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WG 4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  <a:p>
            <a:pPr algn="ctr">
              <a:buClr>
                <a:srgbClr val="000000"/>
              </a:buClr>
              <a:buSzPts val="1100"/>
            </a:pPr>
            <a:r>
              <a:rPr lang="en-US" sz="1200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involves stakeholders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</p:txBody>
      </p:sp>
      <p:cxnSp>
        <p:nvCxnSpPr>
          <p:cNvPr id="21" name="Google Shape;175;g2ffd62d3467_0_86">
            <a:extLst>
              <a:ext uri="{FF2B5EF4-FFF2-40B4-BE49-F238E27FC236}">
                <a16:creationId xmlns:a16="http://schemas.microsoft.com/office/drawing/2014/main" id="{0975F3F5-C83B-8EB2-090A-496F92021DD3}"/>
              </a:ext>
            </a:extLst>
          </p:cNvPr>
          <p:cNvCxnSpPr>
            <a:stCxn id="15" idx="4"/>
            <a:endCxn id="17" idx="3"/>
          </p:cNvCxnSpPr>
          <p:nvPr/>
        </p:nvCxnSpPr>
        <p:spPr>
          <a:xfrm rot="16200000">
            <a:off x="4835792" y="3216841"/>
            <a:ext cx="90800" cy="1458800"/>
          </a:xfrm>
          <a:prstGeom prst="curvedConnector3">
            <a:avLst>
              <a:gd name="adj1" fmla="val -426598"/>
            </a:avLst>
          </a:prstGeom>
          <a:noFill/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" name="Google Shape;176;g2ffd62d3467_0_86">
            <a:extLst>
              <a:ext uri="{FF2B5EF4-FFF2-40B4-BE49-F238E27FC236}">
                <a16:creationId xmlns:a16="http://schemas.microsoft.com/office/drawing/2014/main" id="{CB09B62B-75A8-C825-C2AD-871F6BE51EF4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rot="16200000">
            <a:off x="4468792" y="1933441"/>
            <a:ext cx="644400" cy="1278400"/>
          </a:xfrm>
          <a:prstGeom prst="curvedConnector2">
            <a:avLst/>
          </a:prstGeom>
          <a:noFill/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" name="Google Shape;177;g2ffd62d3467_0_86">
            <a:extLst>
              <a:ext uri="{FF2B5EF4-FFF2-40B4-BE49-F238E27FC236}">
                <a16:creationId xmlns:a16="http://schemas.microsoft.com/office/drawing/2014/main" id="{81D26877-9377-751E-98A6-B6C2C8B5740B}"/>
              </a:ext>
            </a:extLst>
          </p:cNvPr>
          <p:cNvCxnSpPr>
            <a:stCxn id="17" idx="4"/>
            <a:endCxn id="16" idx="0"/>
          </p:cNvCxnSpPr>
          <p:nvPr/>
        </p:nvCxnSpPr>
        <p:spPr>
          <a:xfrm rot="16200000" flipH="1">
            <a:off x="5868775" y="4239892"/>
            <a:ext cx="357600" cy="800"/>
          </a:xfrm>
          <a:prstGeom prst="curvedConnector3">
            <a:avLst>
              <a:gd name="adj1" fmla="val 50026"/>
            </a:avLst>
          </a:prstGeom>
          <a:noFill/>
          <a:ln w="9525" cap="flat" cmpd="sng">
            <a:solidFill>
              <a:srgbClr val="8EC9E7"/>
            </a:solidFill>
            <a:prstDash val="dot"/>
            <a:round/>
            <a:headEnd type="triangle" w="med" len="med"/>
            <a:tailEnd type="triangle" w="med" len="med"/>
          </a:ln>
        </p:spPr>
      </p:cxnSp>
      <p:cxnSp>
        <p:nvCxnSpPr>
          <p:cNvPr id="24" name="Google Shape;178;g2ffd62d3467_0_86">
            <a:extLst>
              <a:ext uri="{FF2B5EF4-FFF2-40B4-BE49-F238E27FC236}">
                <a16:creationId xmlns:a16="http://schemas.microsoft.com/office/drawing/2014/main" id="{E94FD817-9DA7-01E9-054E-75A6E98E1C22}"/>
              </a:ext>
            </a:extLst>
          </p:cNvPr>
          <p:cNvCxnSpPr>
            <a:stCxn id="16" idx="2"/>
            <a:endCxn id="15" idx="3"/>
          </p:cNvCxnSpPr>
          <p:nvPr/>
        </p:nvCxnSpPr>
        <p:spPr>
          <a:xfrm rot="10800000">
            <a:off x="3681175" y="3830875"/>
            <a:ext cx="1749200" cy="1136800"/>
          </a:xfrm>
          <a:prstGeom prst="curvedConnector2">
            <a:avLst/>
          </a:prstGeom>
          <a:noFill/>
          <a:ln w="9525" cap="flat" cmpd="sng">
            <a:solidFill>
              <a:srgbClr val="8EC9E7"/>
            </a:solidFill>
            <a:prstDash val="dot"/>
            <a:round/>
            <a:headEnd type="triangle" w="med" len="med"/>
            <a:tailEnd type="triangle" w="med" len="med"/>
          </a:ln>
        </p:spPr>
      </p:cxnSp>
      <p:cxnSp>
        <p:nvCxnSpPr>
          <p:cNvPr id="25" name="Google Shape;179;g2ffd62d3467_0_86">
            <a:extLst>
              <a:ext uri="{FF2B5EF4-FFF2-40B4-BE49-F238E27FC236}">
                <a16:creationId xmlns:a16="http://schemas.microsoft.com/office/drawing/2014/main" id="{9361DEE3-FA24-C342-13B6-FCAEF6892FDA}"/>
              </a:ext>
            </a:extLst>
          </p:cNvPr>
          <p:cNvCxnSpPr>
            <a:stCxn id="14" idx="5"/>
            <a:endCxn id="16" idx="6"/>
          </p:cNvCxnSpPr>
          <p:nvPr/>
        </p:nvCxnSpPr>
        <p:spPr>
          <a:xfrm rot="5400000">
            <a:off x="6880568" y="3517719"/>
            <a:ext cx="1234400" cy="1665600"/>
          </a:xfrm>
          <a:prstGeom prst="curvedConnector2">
            <a:avLst/>
          </a:prstGeom>
          <a:noFill/>
          <a:ln w="9525" cap="flat" cmpd="sng">
            <a:solidFill>
              <a:srgbClr val="8EC9E7"/>
            </a:solidFill>
            <a:prstDash val="dot"/>
            <a:round/>
            <a:headEnd type="triangle" w="med" len="med"/>
            <a:tailEnd type="triangle" w="med" len="med"/>
          </a:ln>
        </p:spPr>
      </p:cxnSp>
      <p:cxnSp>
        <p:nvCxnSpPr>
          <p:cNvPr id="26" name="Google Shape;180;g2ffd62d3467_0_86">
            <a:extLst>
              <a:ext uri="{FF2B5EF4-FFF2-40B4-BE49-F238E27FC236}">
                <a16:creationId xmlns:a16="http://schemas.microsoft.com/office/drawing/2014/main" id="{1135F350-7EAE-3E98-C514-C50668E5DB2B}"/>
              </a:ext>
            </a:extLst>
          </p:cNvPr>
          <p:cNvCxnSpPr>
            <a:stCxn id="16" idx="5"/>
            <a:endCxn id="13" idx="7"/>
          </p:cNvCxnSpPr>
          <p:nvPr/>
        </p:nvCxnSpPr>
        <p:spPr>
          <a:xfrm rot="16200000">
            <a:off x="4738001" y="3608652"/>
            <a:ext cx="3492800" cy="800"/>
          </a:xfrm>
          <a:prstGeom prst="curvedConnector5">
            <a:avLst>
              <a:gd name="adj1" fmla="val -13689"/>
              <a:gd name="adj2" fmla="val 291608378"/>
              <a:gd name="adj3" fmla="val 113692"/>
            </a:avLst>
          </a:prstGeom>
          <a:noFill/>
          <a:ln w="9525" cap="flat" cmpd="sng">
            <a:solidFill>
              <a:srgbClr val="8EC9E7"/>
            </a:solidFill>
            <a:prstDash val="dot"/>
            <a:round/>
            <a:headEnd type="triangle" w="med" len="med"/>
            <a:tailEnd type="triangle" w="med" len="med"/>
          </a:ln>
        </p:spPr>
      </p:cxnSp>
      <p:cxnSp>
        <p:nvCxnSpPr>
          <p:cNvPr id="27" name="Google Shape;181;g2ffd62d3467_0_86">
            <a:extLst>
              <a:ext uri="{FF2B5EF4-FFF2-40B4-BE49-F238E27FC236}">
                <a16:creationId xmlns:a16="http://schemas.microsoft.com/office/drawing/2014/main" id="{E3CA315F-3CFA-9B2D-E248-E3856D44B65B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 rot="16200000">
            <a:off x="3865148" y="3608652"/>
            <a:ext cx="3492800" cy="800"/>
          </a:xfrm>
          <a:prstGeom prst="curvedConnector5">
            <a:avLst>
              <a:gd name="adj1" fmla="val -13689"/>
              <a:gd name="adj2" fmla="val -302210045"/>
              <a:gd name="adj3" fmla="val 113692"/>
            </a:avLst>
          </a:prstGeom>
          <a:noFill/>
          <a:ln w="9525" cap="flat" cmpd="sng">
            <a:solidFill>
              <a:srgbClr val="8EC9E7"/>
            </a:solidFill>
            <a:prstDash val="dot"/>
            <a:round/>
            <a:headEnd type="triangle" w="med" len="med"/>
            <a:tailEnd type="triangle" w="med" len="med"/>
          </a:ln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9D9C7F42-7E29-C48B-8C83-85A42E5434A8}"/>
              </a:ext>
            </a:extLst>
          </p:cNvPr>
          <p:cNvSpPr/>
          <p:nvPr/>
        </p:nvSpPr>
        <p:spPr>
          <a:xfrm>
            <a:off x="2205969" y="1026001"/>
            <a:ext cx="7105841" cy="5454023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Google Shape;167;g2ffd62d3467_0_86">
            <a:extLst>
              <a:ext uri="{FF2B5EF4-FFF2-40B4-BE49-F238E27FC236}">
                <a16:creationId xmlns:a16="http://schemas.microsoft.com/office/drawing/2014/main" id="{76391715-3692-2E09-7C5F-6691F63771B1}"/>
              </a:ext>
            </a:extLst>
          </p:cNvPr>
          <p:cNvSpPr/>
          <p:nvPr/>
        </p:nvSpPr>
        <p:spPr>
          <a:xfrm>
            <a:off x="5430375" y="1701925"/>
            <a:ext cx="1234400" cy="10968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000" tIns="48000" rIns="48000" bIns="480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600" b="1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WG 1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en-US" sz="1333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data</a:t>
            </a:r>
            <a:endParaRPr sz="1333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68;g2ffd62d3467_0_86">
            <a:extLst>
              <a:ext uri="{FF2B5EF4-FFF2-40B4-BE49-F238E27FC236}">
                <a16:creationId xmlns:a16="http://schemas.microsoft.com/office/drawing/2014/main" id="{3332A5F0-9DC2-EB0E-2225-CCB46ECE2045}"/>
              </a:ext>
            </a:extLst>
          </p:cNvPr>
          <p:cNvSpPr/>
          <p:nvPr/>
        </p:nvSpPr>
        <p:spPr>
          <a:xfrm>
            <a:off x="7276941" y="2797141"/>
            <a:ext cx="1234400" cy="10968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600" b="1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WG 2</a:t>
            </a:r>
            <a:endParaRPr sz="1600" b="1">
              <a:solidFill>
                <a:srgbClr val="000000"/>
              </a:solidFill>
              <a:ea typeface="Verdana"/>
              <a:cs typeface="Verdana"/>
              <a:sym typeface="Verdana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methods</a:t>
            </a:r>
            <a:endParaRPr sz="1333">
              <a:solidFill>
                <a:srgbClr val="000000"/>
              </a:solidFill>
              <a:ea typeface="Verdana"/>
              <a:cs typeface="Verdana"/>
              <a:sym typeface="Verdana"/>
            </a:endParaRPr>
          </a:p>
        </p:txBody>
      </p:sp>
      <p:sp>
        <p:nvSpPr>
          <p:cNvPr id="17" name="Google Shape;171;g2ffd62d3467_0_86">
            <a:extLst>
              <a:ext uri="{FF2B5EF4-FFF2-40B4-BE49-F238E27FC236}">
                <a16:creationId xmlns:a16="http://schemas.microsoft.com/office/drawing/2014/main" id="{57C4A6F0-F0C8-2433-41E0-D3E64B226DDB}"/>
              </a:ext>
            </a:extLst>
          </p:cNvPr>
          <p:cNvSpPr/>
          <p:nvPr/>
        </p:nvSpPr>
        <p:spPr>
          <a:xfrm>
            <a:off x="5429975" y="2964692"/>
            <a:ext cx="1234400" cy="10968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400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600" b="1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WG 3</a:t>
            </a:r>
            <a:endParaRPr sz="1600" b="1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  <a:p>
            <a:pPr algn="ctr">
              <a:buClr>
                <a:srgbClr val="000000"/>
              </a:buClr>
              <a:buSzPts val="900"/>
            </a:pPr>
            <a:r>
              <a:rPr lang="en-US" sz="1200" dirty="0">
                <a:solidFill>
                  <a:srgbClr val="000000"/>
                </a:solidFill>
                <a:ea typeface="Verdana"/>
                <a:cs typeface="Verdana"/>
                <a:sym typeface="Verdana"/>
              </a:rPr>
              <a:t>application</a:t>
            </a:r>
            <a:endParaRPr sz="1200" dirty="0">
              <a:solidFill>
                <a:srgbClr val="000000"/>
              </a:solidFill>
              <a:ea typeface="Verdana"/>
              <a:cs typeface="Verdana"/>
              <a:sym typeface="Verdana"/>
            </a:endParaRPr>
          </a:p>
        </p:txBody>
      </p:sp>
      <p:cxnSp>
        <p:nvCxnSpPr>
          <p:cNvPr id="18" name="Google Shape;172;g2ffd62d3467_0_86">
            <a:extLst>
              <a:ext uri="{FF2B5EF4-FFF2-40B4-BE49-F238E27FC236}">
                <a16:creationId xmlns:a16="http://schemas.microsoft.com/office/drawing/2014/main" id="{F7485771-88D7-BD39-B7F0-55F655A493A9}"/>
              </a:ext>
            </a:extLst>
          </p:cNvPr>
          <p:cNvCxnSpPr>
            <a:stCxn id="13" idx="6"/>
            <a:endCxn id="14" idx="0"/>
          </p:cNvCxnSpPr>
          <p:nvPr/>
        </p:nvCxnSpPr>
        <p:spPr>
          <a:xfrm>
            <a:off x="6664775" y="2250325"/>
            <a:ext cx="1229200" cy="546800"/>
          </a:xfrm>
          <a:prstGeom prst="curvedConnector2">
            <a:avLst/>
          </a:prstGeom>
          <a:noFill/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" name="Google Shape;173;g2ffd62d3467_0_86">
            <a:extLst>
              <a:ext uri="{FF2B5EF4-FFF2-40B4-BE49-F238E27FC236}">
                <a16:creationId xmlns:a16="http://schemas.microsoft.com/office/drawing/2014/main" id="{1DC59AF6-7BE1-9CB7-24CF-A0F7CB964513}"/>
              </a:ext>
            </a:extLst>
          </p:cNvPr>
          <p:cNvCxnSpPr>
            <a:stCxn id="13" idx="4"/>
            <a:endCxn id="17" idx="0"/>
          </p:cNvCxnSpPr>
          <p:nvPr/>
        </p:nvCxnSpPr>
        <p:spPr>
          <a:xfrm rot="16200000" flipH="1">
            <a:off x="5964975" y="2881325"/>
            <a:ext cx="166000" cy="800"/>
          </a:xfrm>
          <a:prstGeom prst="curvedConnector3">
            <a:avLst>
              <a:gd name="adj1" fmla="val 49990"/>
            </a:avLst>
          </a:prstGeom>
          <a:noFill/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" name="Google Shape;174;g2ffd62d3467_0_86">
            <a:extLst>
              <a:ext uri="{FF2B5EF4-FFF2-40B4-BE49-F238E27FC236}">
                <a16:creationId xmlns:a16="http://schemas.microsoft.com/office/drawing/2014/main" id="{5A5CC5D5-869D-AB64-7AAB-B13A0A9A7689}"/>
              </a:ext>
            </a:extLst>
          </p:cNvPr>
          <p:cNvCxnSpPr>
            <a:stCxn id="14" idx="4"/>
            <a:endCxn id="17" idx="5"/>
          </p:cNvCxnSpPr>
          <p:nvPr/>
        </p:nvCxnSpPr>
        <p:spPr>
          <a:xfrm rot="5400000">
            <a:off x="7185541" y="3192141"/>
            <a:ext cx="6800" cy="1410400"/>
          </a:xfrm>
          <a:prstGeom prst="curvedConnector3">
            <a:avLst>
              <a:gd name="adj1" fmla="val 7133098"/>
            </a:avLst>
          </a:prstGeom>
          <a:noFill/>
          <a:ln w="9525" cap="flat" cmpd="sng">
            <a:solidFill>
              <a:srgbClr val="8EC9E7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5110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A95B-7983-6340-832B-F49E350D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00" y="2391508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 achievements of </a:t>
            </a:r>
            <a:r>
              <a:rPr lang="en-US" dirty="0" err="1"/>
              <a:t>OpenSense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9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1E351-08A4-788A-F0DC-6A63728C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Working group “Data”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4A3790-E0B5-B75A-74D1-97366DAD3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165" y="928400"/>
            <a:ext cx="6687635" cy="5361200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/>
              <a:t>Defined a standard for data storage and naming conventions</a:t>
            </a:r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noProof="0" dirty="0"/>
          </a:p>
          <a:p>
            <a:r>
              <a:rPr lang="en-US" noProof="0" dirty="0"/>
              <a:t>Supported the publication of two open datasets with CML, gauge and radar data 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OpenMRG</a:t>
            </a:r>
            <a:r>
              <a:rPr lang="en-US" dirty="0"/>
              <a:t> (city of Gothenburg, Sweden) Andersson et al. (2022) </a:t>
            </a:r>
            <a:r>
              <a:rPr lang="de-DE" dirty="0">
                <a:hlinkClick r:id="rId2"/>
              </a:rPr>
              <a:t>https://doi.org/10.5194/essd-14-5411-2022</a:t>
            </a:r>
            <a:r>
              <a:rPr lang="de-DE" dirty="0"/>
              <a:t> </a:t>
            </a:r>
            <a:endParaRPr lang="en-US" dirty="0"/>
          </a:p>
          <a:p>
            <a:pPr lvl="1"/>
            <a:endParaRPr lang="en-US" noProof="0" dirty="0"/>
          </a:p>
          <a:p>
            <a:pPr lvl="1"/>
            <a:r>
              <a:rPr lang="en-US" noProof="0" dirty="0" err="1"/>
              <a:t>OpenRainER</a:t>
            </a:r>
            <a:r>
              <a:rPr lang="en-US" noProof="0" dirty="0"/>
              <a:t> (Emilia-Romagna, Italy) </a:t>
            </a:r>
            <a:br>
              <a:rPr lang="en-US" noProof="0" dirty="0"/>
            </a:br>
            <a:r>
              <a:rPr lang="en-US" noProof="0" dirty="0"/>
              <a:t>Covi and </a:t>
            </a:r>
            <a:r>
              <a:rPr lang="en-US" noProof="0" dirty="0" err="1"/>
              <a:t>Roversi</a:t>
            </a:r>
            <a:r>
              <a:rPr lang="en-US" noProof="0" dirty="0"/>
              <a:t> (2024) </a:t>
            </a:r>
            <a:r>
              <a:rPr lang="en-US" noProof="0" dirty="0">
                <a:hlinkClick r:id="rId3"/>
              </a:rPr>
              <a:t>https://doi.org/10.5281/zenodo.10593848</a:t>
            </a:r>
            <a:r>
              <a:rPr lang="en-US" noProof="0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BE219D-A03D-C1FB-36D4-5D67E39BD6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4E4DC44-35F2-E8D8-0129-A3720225A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349" y="381800"/>
            <a:ext cx="4656051" cy="2706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A77AB4-1102-B137-2618-F65877D18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129" y="4028267"/>
            <a:ext cx="3191460" cy="218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AB0D4F9-123E-F5F5-1F4D-4CDFD88E3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319" y="3935141"/>
            <a:ext cx="2257999" cy="292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34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4A49-8DAC-77F6-DFA6-74EEF351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D8542-FE0D-3FF6-B365-DBD9C60E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Working group “Software &amp; Methods”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7FE04-2001-3CB9-BE77-76046C1E3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166" y="928400"/>
            <a:ext cx="7203069" cy="5361200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Review of existing implementations</a:t>
            </a:r>
          </a:p>
          <a:p>
            <a:endParaRPr lang="en-US" dirty="0"/>
          </a:p>
          <a:p>
            <a:r>
              <a:rPr lang="en-US" noProof="0" dirty="0"/>
              <a:t>Joint development of:</a:t>
            </a:r>
          </a:p>
          <a:p>
            <a:endParaRPr lang="en-US" dirty="0"/>
          </a:p>
          <a:p>
            <a:pPr lvl="1"/>
            <a:r>
              <a:rPr lang="en-US" i="1" dirty="0"/>
              <a:t>p</a:t>
            </a:r>
            <a:r>
              <a:rPr lang="en-US" i="1" noProof="0" dirty="0" err="1"/>
              <a:t>oligrain</a:t>
            </a:r>
            <a:endParaRPr lang="en-US" i="1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/>
              <a:t>Simplify common tasks for working with point, line and gridded rainfall sensor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2"/>
              </a:rPr>
              <a:t>https://github.com/OpenSenseAction/poligrain</a:t>
            </a:r>
            <a:r>
              <a:rPr lang="en-US" dirty="0"/>
              <a:t> </a:t>
            </a:r>
            <a:endParaRPr lang="en-US" noProof="0" dirty="0"/>
          </a:p>
          <a:p>
            <a:pPr lvl="1"/>
            <a:endParaRPr lang="en-US" dirty="0"/>
          </a:p>
          <a:p>
            <a:pPr lvl="1"/>
            <a:r>
              <a:rPr lang="en-US" i="1" noProof="0" dirty="0" err="1"/>
              <a:t>pycomlink</a:t>
            </a:r>
            <a:endParaRPr lang="en-US" i="1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Processing methods for CML rainfall estimation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3"/>
              </a:rPr>
              <a:t>https://github.com/pycomlink/pycomlink</a:t>
            </a:r>
            <a:r>
              <a:rPr lang="en-US" noProof="0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p</a:t>
            </a:r>
            <a:r>
              <a:rPr lang="en-US" i="1" noProof="0" dirty="0" err="1"/>
              <a:t>ypwsqc</a:t>
            </a:r>
            <a:endParaRPr lang="en-US" i="1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Quality control methods for PWS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4"/>
              </a:rPr>
              <a:t>https://github.com/OpenSenseAction/pypwsqc</a:t>
            </a:r>
            <a:endParaRPr lang="en-US" noProof="0" dirty="0"/>
          </a:p>
          <a:p>
            <a:pPr lvl="1">
              <a:buFont typeface="Courier New" panose="02070309020205020404" pitchFamily="49" charset="0"/>
              <a:buChar char="o"/>
            </a:pPr>
            <a:endParaRPr lang="en-US" noProof="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i="1" dirty="0" err="1"/>
              <a:t>mergeplg</a:t>
            </a:r>
            <a:endParaRPr lang="en-US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Interpolation and merging of radar data with OS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hlinkClick r:id="rId5"/>
              </a:rPr>
              <a:t>https://github.com/OpenSenseAction</a:t>
            </a:r>
            <a:r>
              <a:rPr lang="en-US" dirty="0"/>
              <a:t> 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8DBD10-C354-84CF-4A2B-EBE33DA458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7" name="Grafik 6" descr="Ein Bild, das Text, Software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8EDF799-DCC5-BDBD-C080-CB8470F66E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349"/>
          <a:stretch/>
        </p:blipFill>
        <p:spPr>
          <a:xfrm>
            <a:off x="7481611" y="1642235"/>
            <a:ext cx="4546600" cy="3573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DDFACC1-02A5-0FB2-1DB7-533506D739FD}"/>
              </a:ext>
            </a:extLst>
          </p:cNvPr>
          <p:cNvSpPr/>
          <p:nvPr/>
        </p:nvSpPr>
        <p:spPr>
          <a:xfrm>
            <a:off x="7535407" y="2745679"/>
            <a:ext cx="977508" cy="35683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75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5935-C62F-66B0-114F-3FB8D4A2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77506A-BCFE-D599-D9BC-2BB3F0BA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Working group “Software &amp; Methods”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D48E38-00F4-6C5C-89EC-B37286DB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164" y="928400"/>
            <a:ext cx="10711987" cy="5361200"/>
          </a:xfrm>
        </p:spPr>
        <p:txBody>
          <a:bodyPr/>
          <a:lstStyle/>
          <a:p>
            <a:r>
              <a:rPr lang="en-US" noProof="0" dirty="0"/>
              <a:t>Intercomparison of CML processing methods</a:t>
            </a:r>
          </a:p>
          <a:p>
            <a:pPr lvl="1"/>
            <a:endParaRPr lang="en-US" sz="1200" noProof="0" dirty="0"/>
          </a:p>
          <a:p>
            <a:pPr lvl="1"/>
            <a:r>
              <a:rPr lang="en-US" noProof="0" dirty="0"/>
              <a:t>Comparison of rain event detection and wet antenna estimation methods</a:t>
            </a:r>
          </a:p>
          <a:p>
            <a:pPr lvl="1"/>
            <a:endParaRPr lang="en-US" sz="1200" noProof="0" dirty="0"/>
          </a:p>
          <a:p>
            <a:pPr lvl="1"/>
            <a:r>
              <a:rPr lang="en-US" noProof="0" dirty="0"/>
              <a:t>Using </a:t>
            </a:r>
            <a:r>
              <a:rPr lang="en-US" noProof="0" dirty="0" err="1"/>
              <a:t>OpenMRG</a:t>
            </a:r>
            <a:r>
              <a:rPr lang="en-US" noProof="0" dirty="0"/>
              <a:t> and </a:t>
            </a:r>
            <a:r>
              <a:rPr lang="en-US" noProof="0" dirty="0" err="1"/>
              <a:t>OpenRainER</a:t>
            </a:r>
            <a:r>
              <a:rPr lang="en-US" noProof="0" dirty="0"/>
              <a:t> dataset</a:t>
            </a:r>
          </a:p>
          <a:p>
            <a:pPr lvl="1"/>
            <a:endParaRPr lang="en-US" sz="1200" dirty="0"/>
          </a:p>
          <a:p>
            <a:pPr lvl="1"/>
            <a:r>
              <a:rPr lang="en-US" dirty="0"/>
              <a:t>Graf et al. (in preparation)</a:t>
            </a:r>
            <a:endParaRPr lang="en-US" noProof="0" dirty="0"/>
          </a:p>
          <a:p>
            <a:pPr marL="152396" indent="0">
              <a:buNone/>
            </a:pP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34FDEE-5A3C-745A-AF3C-8D5017D25D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6" name="Google Shape;847;g33957f3b062_0_596">
            <a:extLst>
              <a:ext uri="{FF2B5EF4-FFF2-40B4-BE49-F238E27FC236}">
                <a16:creationId xmlns:a16="http://schemas.microsoft.com/office/drawing/2014/main" id="{E4116C22-DED0-F88C-5236-A98739294A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71349"/>
          <a:stretch/>
        </p:blipFill>
        <p:spPr>
          <a:xfrm>
            <a:off x="2305995" y="4032960"/>
            <a:ext cx="2825251" cy="287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45;g33957f3b062_0_596">
            <a:extLst>
              <a:ext uri="{FF2B5EF4-FFF2-40B4-BE49-F238E27FC236}">
                <a16:creationId xmlns:a16="http://schemas.microsoft.com/office/drawing/2014/main" id="{643D5C03-90EE-6120-8DF2-E8C7082C6A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48753"/>
          <a:stretch/>
        </p:blipFill>
        <p:spPr>
          <a:xfrm>
            <a:off x="7216077" y="4080820"/>
            <a:ext cx="3586660" cy="271116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B024BAF-5979-17A7-AFCD-57C08EC463CB}"/>
              </a:ext>
            </a:extLst>
          </p:cNvPr>
          <p:cNvSpPr txBox="1"/>
          <p:nvPr/>
        </p:nvSpPr>
        <p:spPr>
          <a:xfrm>
            <a:off x="1463280" y="3808993"/>
            <a:ext cx="5084955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dirty="0"/>
              <a:t>Performance of different rain event detection methods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93A8B7F-5683-732A-17A5-5E6195A73364}"/>
              </a:ext>
            </a:extLst>
          </p:cNvPr>
          <p:cNvSpPr txBox="1"/>
          <p:nvPr/>
        </p:nvSpPr>
        <p:spPr>
          <a:xfrm>
            <a:off x="6466928" y="3808993"/>
            <a:ext cx="5084955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dirty="0"/>
              <a:t>Bias depending on wet antenna correction methods</a:t>
            </a:r>
          </a:p>
        </p:txBody>
      </p:sp>
    </p:spTree>
    <p:extLst>
      <p:ext uri="{BB962C8B-B14F-4D97-AF65-F5344CB8AC3E}">
        <p14:creationId xmlns:p14="http://schemas.microsoft.com/office/powerpoint/2010/main" val="324166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F9D8-03FB-EB16-FA4D-3784E39A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83B941-62E8-D867-F13A-1B0818DD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Working group “Merging and application”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9B02FB-307E-5334-8305-07A88B100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165" y="928400"/>
            <a:ext cx="7569820" cy="5361200"/>
          </a:xfrm>
        </p:spPr>
        <p:txBody>
          <a:bodyPr/>
          <a:lstStyle/>
          <a:p>
            <a:r>
              <a:rPr lang="en-US" dirty="0"/>
              <a:t>Method intercomparison for radar-CML merging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Using two large open datasets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Fully reproducible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Comparing different methods:</a:t>
            </a:r>
          </a:p>
          <a:p>
            <a:pPr lvl="2"/>
            <a:r>
              <a:rPr lang="en-US" dirty="0"/>
              <a:t>Additive-IDW</a:t>
            </a:r>
          </a:p>
          <a:p>
            <a:pPr lvl="2"/>
            <a:r>
              <a:rPr lang="en-US" dirty="0"/>
              <a:t>Multiplicative-IDW</a:t>
            </a:r>
          </a:p>
          <a:p>
            <a:pPr lvl="2"/>
            <a:r>
              <a:rPr lang="en-US" dirty="0"/>
              <a:t>Block Kriging</a:t>
            </a:r>
          </a:p>
          <a:p>
            <a:pPr lvl="2"/>
            <a:r>
              <a:rPr lang="en-US" dirty="0"/>
              <a:t>KED</a:t>
            </a:r>
          </a:p>
          <a:p>
            <a:pPr lvl="1"/>
            <a:endParaRPr lang="en-US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70DF5F-77AC-0545-3033-22FA2BC21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5" name="Google Shape;720;g33a24e3b5a1_0_51">
            <a:extLst>
              <a:ext uri="{FF2B5EF4-FFF2-40B4-BE49-F238E27FC236}">
                <a16:creationId xmlns:a16="http://schemas.microsoft.com/office/drawing/2014/main" id="{42E0530E-4BFE-97E9-4349-B450FCA7C8B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33778" y="1987243"/>
            <a:ext cx="6794433" cy="18541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0EFBBC8-C8DF-E150-734E-D9DF631888E7}"/>
              </a:ext>
            </a:extLst>
          </p:cNvPr>
          <p:cNvGrpSpPr/>
          <p:nvPr/>
        </p:nvGrpSpPr>
        <p:grpSpPr>
          <a:xfrm>
            <a:off x="5148978" y="4105738"/>
            <a:ext cx="6992852" cy="2523377"/>
            <a:chOff x="3861733" y="3079303"/>
            <a:chExt cx="5244639" cy="1892533"/>
          </a:xfrm>
        </p:grpSpPr>
        <p:pic>
          <p:nvPicPr>
            <p:cNvPr id="6" name="Google Shape;819;g33a29f20dcb_0_21">
              <a:extLst>
                <a:ext uri="{FF2B5EF4-FFF2-40B4-BE49-F238E27FC236}">
                  <a16:creationId xmlns:a16="http://schemas.microsoft.com/office/drawing/2014/main" id="{51DE1E1D-273E-681D-D096-1C7076DD58F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61733" y="3291242"/>
              <a:ext cx="5223023" cy="1680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4CC84627-27D3-5727-270D-0EFC6DEC23AD}"/>
                </a:ext>
              </a:extLst>
            </p:cNvPr>
            <p:cNvSpPr txBox="1"/>
            <p:nvPr/>
          </p:nvSpPr>
          <p:spPr>
            <a:xfrm>
              <a:off x="3995549" y="3079303"/>
              <a:ext cx="126782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Unadjusted radar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C61B6745-2A0F-6F8B-0717-CB2A2742B7CA}"/>
                </a:ext>
              </a:extLst>
            </p:cNvPr>
            <p:cNvSpPr txBox="1"/>
            <p:nvPr/>
          </p:nvSpPr>
          <p:spPr>
            <a:xfrm>
              <a:off x="5256106" y="3092949"/>
              <a:ext cx="126782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Additive IDW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6C59BFA-592F-0629-8E12-5B1E7CD10AD8}"/>
                </a:ext>
              </a:extLst>
            </p:cNvPr>
            <p:cNvSpPr txBox="1"/>
            <p:nvPr/>
          </p:nvSpPr>
          <p:spPr>
            <a:xfrm>
              <a:off x="6551773" y="3092979"/>
              <a:ext cx="126782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Block Kriging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CD559E7-73AD-2369-6D5E-C1E7FDA56598}"/>
                </a:ext>
              </a:extLst>
            </p:cNvPr>
            <p:cNvSpPr txBox="1"/>
            <p:nvPr/>
          </p:nvSpPr>
          <p:spPr>
            <a:xfrm>
              <a:off x="7838544" y="3079455"/>
              <a:ext cx="126782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KED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24473A2-8EE9-B1D5-B820-C446F10C5695}"/>
                </a:ext>
              </a:extLst>
            </p:cNvPr>
            <p:cNvSpPr/>
            <p:nvPr/>
          </p:nvSpPr>
          <p:spPr>
            <a:xfrm>
              <a:off x="4690946" y="4482790"/>
              <a:ext cx="423747" cy="1263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75816DE-01B4-7880-5B0F-22EFF0069BB4}"/>
                </a:ext>
              </a:extLst>
            </p:cNvPr>
            <p:cNvSpPr/>
            <p:nvPr/>
          </p:nvSpPr>
          <p:spPr>
            <a:xfrm>
              <a:off x="5985632" y="4482790"/>
              <a:ext cx="423747" cy="1263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1393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A95B-7983-6340-832B-F49E350D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00" y="2391508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… now to the next days!</a:t>
            </a:r>
          </a:p>
        </p:txBody>
      </p:sp>
    </p:spTree>
    <p:extLst>
      <p:ext uri="{BB962C8B-B14F-4D97-AF65-F5344CB8AC3E}">
        <p14:creationId xmlns:p14="http://schemas.microsoft.com/office/powerpoint/2010/main" val="257636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DF9C-3908-C24E-B01C-E9FDBED3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B7C02-1BD6-5449-8F4C-3610AD0A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50" y="1875692"/>
            <a:ext cx="9472500" cy="399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1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CA35-319E-804C-932A-261B96E5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cosmos in Training School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E83C-4975-9F4D-9FB9-5C6A7451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session</a:t>
            </a:r>
          </a:p>
          <a:p>
            <a:pPr lvl="1"/>
            <a:r>
              <a:rPr lang="en-US" dirty="0"/>
              <a:t>plot data (</a:t>
            </a:r>
            <a:r>
              <a:rPr lang="en-US" i="1" dirty="0" err="1">
                <a:solidFill>
                  <a:schemeClr val="accent6"/>
                </a:solidFill>
              </a:rPr>
              <a:t>poligrain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process CML data (</a:t>
            </a:r>
            <a:r>
              <a:rPr lang="en-US" i="1" dirty="0">
                <a:solidFill>
                  <a:schemeClr val="accent5"/>
                </a:solidFill>
              </a:rPr>
              <a:t>pycomlink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QC PWS data (</a:t>
            </a:r>
            <a:r>
              <a:rPr lang="en-US" i="1" dirty="0" err="1">
                <a:solidFill>
                  <a:schemeClr val="accent4"/>
                </a:solidFill>
              </a:rPr>
              <a:t>pypwsqc</a:t>
            </a:r>
            <a:r>
              <a:rPr lang="en-US" dirty="0"/>
              <a:t>)</a:t>
            </a:r>
          </a:p>
          <a:p>
            <a:r>
              <a:rPr lang="en-US" dirty="0"/>
              <a:t>Merging session</a:t>
            </a:r>
          </a:p>
          <a:p>
            <a:pPr lvl="1"/>
            <a:r>
              <a:rPr lang="en-US" dirty="0"/>
              <a:t>interpolate and merge (adjust radar</a:t>
            </a:r>
            <a:br>
              <a:rPr lang="en-US" dirty="0"/>
            </a:br>
            <a:r>
              <a:rPr lang="en-US" dirty="0"/>
              <a:t>data) with OS data (</a:t>
            </a:r>
            <a:r>
              <a:rPr lang="en-US" i="1" dirty="0" err="1">
                <a:solidFill>
                  <a:schemeClr val="accent2"/>
                </a:solidFill>
              </a:rPr>
              <a:t>mergeplg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plot, analyze and go back to raw data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 err="1">
                <a:solidFill>
                  <a:schemeClr val="accent6"/>
                </a:solidFill>
              </a:rPr>
              <a:t>poligrain</a:t>
            </a:r>
            <a:r>
              <a:rPr lang="en-US" i="1" dirty="0"/>
              <a:t>, </a:t>
            </a:r>
            <a:r>
              <a:rPr lang="en-US" i="1" dirty="0">
                <a:solidFill>
                  <a:schemeClr val="accent5"/>
                </a:solidFill>
              </a:rPr>
              <a:t>pycomlink</a:t>
            </a:r>
            <a:r>
              <a:rPr lang="en-US" i="1" dirty="0"/>
              <a:t>, </a:t>
            </a:r>
            <a:r>
              <a:rPr lang="en-US" i="1" dirty="0" err="1">
                <a:solidFill>
                  <a:schemeClr val="accent4"/>
                </a:solidFill>
              </a:rPr>
              <a:t>pypwsqc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0A455-53B0-4E4C-9129-A689695B4E68}"/>
              </a:ext>
            </a:extLst>
          </p:cNvPr>
          <p:cNvSpPr/>
          <p:nvPr/>
        </p:nvSpPr>
        <p:spPr>
          <a:xfrm>
            <a:off x="6224954" y="1739136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i="1" dirty="0">
                <a:solidFill>
                  <a:schemeClr val="accent6"/>
                </a:solidFill>
              </a:rPr>
              <a:t>p</a:t>
            </a:r>
            <a:r>
              <a:rPr lang="en-US" i="1" noProof="0" dirty="0" err="1">
                <a:solidFill>
                  <a:schemeClr val="accent6"/>
                </a:solidFill>
              </a:rPr>
              <a:t>oligrain</a:t>
            </a:r>
            <a:endParaRPr lang="en-US" i="1" noProof="0" dirty="0">
              <a:solidFill>
                <a:schemeClr val="accent6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/>
              <a:t> Simplify common tasks for working with point, line and gridded rainfall sensor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2"/>
              </a:rPr>
              <a:t> https://github.com/OpenSenseAction/poligrain</a:t>
            </a:r>
            <a:r>
              <a:rPr lang="en-US" dirty="0"/>
              <a:t> </a:t>
            </a:r>
            <a:endParaRPr lang="en-US" noProof="0" dirty="0"/>
          </a:p>
          <a:p>
            <a:pPr lvl="1"/>
            <a:endParaRPr lang="en-US" dirty="0"/>
          </a:p>
          <a:p>
            <a:pPr lvl="1"/>
            <a:r>
              <a:rPr lang="en-US" i="1" noProof="0" dirty="0">
                <a:solidFill>
                  <a:schemeClr val="accent5"/>
                </a:solidFill>
              </a:rPr>
              <a:t>pycomlink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Processing methods for CML rainfall estimation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3"/>
              </a:rPr>
              <a:t> https://github.com/pycomlink/pycomlink</a:t>
            </a:r>
            <a:r>
              <a:rPr lang="en-US" noProof="0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i="1" dirty="0">
                <a:solidFill>
                  <a:schemeClr val="accent4"/>
                </a:solidFill>
              </a:rPr>
              <a:t>p</a:t>
            </a:r>
            <a:r>
              <a:rPr lang="en-US" i="1" noProof="0" dirty="0" err="1">
                <a:solidFill>
                  <a:schemeClr val="accent4"/>
                </a:solidFill>
              </a:rPr>
              <a:t>ypwsqc</a:t>
            </a:r>
            <a:endParaRPr lang="en-US" i="1" noProof="0" dirty="0">
              <a:solidFill>
                <a:schemeClr val="accent4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Quality control methods for PWS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>
                <a:hlinkClick r:id="rId4"/>
              </a:rPr>
              <a:t> https://github.com/OpenSenseAction/pypwsqc</a:t>
            </a:r>
            <a:endParaRPr lang="en-US" noProof="0" dirty="0"/>
          </a:p>
          <a:p>
            <a:pPr lvl="1">
              <a:buFont typeface="Courier New" panose="02070309020205020404" pitchFamily="49" charset="0"/>
              <a:buChar char="o"/>
            </a:pPr>
            <a:endParaRPr lang="en-US" noProof="0" dirty="0"/>
          </a:p>
          <a:p>
            <a:pPr lvl="1"/>
            <a:r>
              <a:rPr lang="en-US" i="1" dirty="0" err="1">
                <a:solidFill>
                  <a:schemeClr val="accent2"/>
                </a:solidFill>
              </a:rPr>
              <a:t>mergeplg</a:t>
            </a:r>
            <a:endParaRPr lang="en-US" i="1" dirty="0">
              <a:solidFill>
                <a:schemeClr val="accent2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 </a:t>
            </a:r>
            <a:r>
              <a:rPr lang="en-US" dirty="0" err="1"/>
              <a:t>nterpolation</a:t>
            </a:r>
            <a:r>
              <a:rPr lang="en-US" dirty="0"/>
              <a:t> and merging of radar data with OS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hlinkClick r:id="rId5"/>
              </a:rPr>
              <a:t> https://github.com/OpenSenseAction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219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8713-1A38-7F48-91BD-53D3AF31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cosmos in Training School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3C74-61AD-C74C-9581-6C2931E65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Nowcasting session</a:t>
            </a:r>
          </a:p>
          <a:p>
            <a:pPr lvl="1"/>
            <a:r>
              <a:rPr lang="de-DE" dirty="0"/>
              <a:t>Intro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nowcasting</a:t>
            </a:r>
            <a:endParaRPr lang="de-DE" dirty="0"/>
          </a:p>
          <a:p>
            <a:pPr lvl="1"/>
            <a:r>
              <a:rPr lang="de-DE" dirty="0"/>
              <a:t>Optical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extrapolation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differnt</a:t>
            </a:r>
            <a:r>
              <a:rPr lang="de-DE" dirty="0"/>
              <a:t> (OS)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rainfall</a:t>
            </a:r>
            <a:r>
              <a:rPr lang="de-DE" dirty="0"/>
              <a:t> </a:t>
            </a:r>
            <a:r>
              <a:rPr lang="de-DE" dirty="0" err="1"/>
              <a:t>maps</a:t>
            </a:r>
            <a:endParaRPr lang="de-DE" dirty="0"/>
          </a:p>
          <a:p>
            <a:pPr lvl="1"/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pysteps</a:t>
            </a:r>
            <a:endParaRPr lang="de-DE" dirty="0"/>
          </a:p>
          <a:p>
            <a:r>
              <a:rPr lang="de-DE" dirty="0"/>
              <a:t>Hydrological </a:t>
            </a:r>
            <a:r>
              <a:rPr lang="de-DE" dirty="0" err="1"/>
              <a:t>modelling</a:t>
            </a:r>
            <a:r>
              <a:rPr lang="de-DE" dirty="0"/>
              <a:t> </a:t>
            </a:r>
            <a:r>
              <a:rPr lang="de-DE" dirty="0" err="1"/>
              <a:t>session</a:t>
            </a:r>
            <a:endParaRPr lang="de-DE" dirty="0"/>
          </a:p>
          <a:p>
            <a:pPr lvl="1"/>
            <a:r>
              <a:rPr lang="de-DE" dirty="0"/>
              <a:t>Hydrological </a:t>
            </a:r>
            <a:r>
              <a:rPr lang="de-DE" dirty="0" err="1"/>
              <a:t>modelling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chatchment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lumped</a:t>
            </a:r>
            <a:r>
              <a:rPr lang="de-DE" dirty="0"/>
              <a:t> HBV </a:t>
            </a:r>
            <a:br>
              <a:rPr lang="de-DE" dirty="0"/>
            </a:b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 err="1"/>
              <a:t>Using</a:t>
            </a:r>
            <a:r>
              <a:rPr lang="de-DE" dirty="0"/>
              <a:t> different (OS)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datasets</a:t>
            </a:r>
            <a:endParaRPr lang="de-DE" dirty="0"/>
          </a:p>
          <a:p>
            <a:pPr lvl="1"/>
            <a:endParaRPr lang="de-DE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72612-2AA2-AF41-8E19-C8E675A2FAC7}"/>
              </a:ext>
            </a:extLst>
          </p:cNvPr>
          <p:cNvSpPr/>
          <p:nvPr/>
        </p:nvSpPr>
        <p:spPr>
          <a:xfrm>
            <a:off x="5935325" y="3804583"/>
            <a:ext cx="62566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i="1" dirty="0" err="1"/>
              <a:t>pysteps</a:t>
            </a:r>
            <a:endParaRPr lang="en-US" i="1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/>
              <a:t> mature package for nowcasting methods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>
                <a:hlinkClick r:id="rId2"/>
              </a:rPr>
              <a:t>https://pysteps.github.io/</a:t>
            </a:r>
            <a:r>
              <a:rPr lang="en-US" dirty="0"/>
              <a:t>   </a:t>
            </a:r>
            <a:endParaRPr lang="en-US" noProof="0" dirty="0"/>
          </a:p>
          <a:p>
            <a:pPr lvl="1"/>
            <a:endParaRPr lang="en-US" dirty="0"/>
          </a:p>
          <a:p>
            <a:pPr lvl="1"/>
            <a:r>
              <a:rPr lang="en-US" noProof="0" dirty="0"/>
              <a:t>HBV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Processing methods for CML rainfall estimation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0" dirty="0"/>
              <a:t> </a:t>
            </a:r>
            <a:r>
              <a:rPr lang="en-US" noProof="0" dirty="0">
                <a:hlinkClick r:id="rId3"/>
              </a:rPr>
              <a:t>https://en.wikipedia.org/wiki/HBV_hydrology_model</a:t>
            </a:r>
            <a:endParaRPr lang="en-US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Literature: </a:t>
            </a:r>
            <a:r>
              <a:rPr lang="en-US" noProof="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31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A95B-7983-6340-832B-F49E350D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66" y="593705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 round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44E6F-734D-EB4E-8254-5A155129557C}"/>
              </a:ext>
            </a:extLst>
          </p:cNvPr>
          <p:cNvSpPr txBox="1"/>
          <p:nvPr/>
        </p:nvSpPr>
        <p:spPr>
          <a:xfrm>
            <a:off x="635431" y="1658319"/>
            <a:ext cx="819217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raise your hand if you feel addressed: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 am a trainer or organizer of this training school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a PhD student (or similar early career scientist)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worked with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a background or work in meteorology/atmospheric sciences (not hydrology)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a background or work in hydrology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a completely different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Introduce yourself in one breath – as short or as long as you want (or can)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74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DE70-B326-864A-838C-A1089A2E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workshop material from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08858-FE40-D54B-89AA-3B29D197B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Get training school content with:</a:t>
            </a:r>
            <a:br>
              <a:rPr lang="en-US" dirty="0"/>
            </a:br>
            <a:r>
              <a:rPr lang="en-US" sz="2400" i="1" dirty="0"/>
              <a:t>git clone https://</a:t>
            </a:r>
            <a:r>
              <a:rPr lang="en-US" sz="2400" i="1" dirty="0" err="1"/>
              <a:t>github.com</a:t>
            </a:r>
            <a:r>
              <a:rPr lang="en-US" sz="2400" i="1" dirty="0"/>
              <a:t>/</a:t>
            </a:r>
            <a:r>
              <a:rPr lang="en-US" sz="2400" i="1" dirty="0" err="1"/>
              <a:t>OpenSenseAction</a:t>
            </a:r>
            <a:r>
              <a:rPr lang="en-US" sz="2400" i="1" dirty="0"/>
              <a:t>/</a:t>
            </a:r>
            <a:r>
              <a:rPr lang="en-US" sz="2400" i="1" dirty="0" err="1"/>
              <a:t>TrainingSchoolMergingApplication.git</a:t>
            </a:r>
            <a:r>
              <a:rPr lang="en-US" sz="2400" i="1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Make sure you </a:t>
            </a:r>
            <a:r>
              <a:rPr lang="en-US" dirty="0" err="1"/>
              <a:t>conda</a:t>
            </a:r>
            <a:r>
              <a:rPr lang="en-US" dirty="0"/>
              <a:t> </a:t>
            </a:r>
            <a:r>
              <a:rPr lang="en-US" dirty="0" err="1"/>
              <a:t>env</a:t>
            </a:r>
            <a:r>
              <a:rPr lang="en-US" dirty="0"/>
              <a:t> is activate </a:t>
            </a:r>
            <a:r>
              <a:rPr lang="en-US" sz="2400" dirty="0"/>
              <a:t>(</a:t>
            </a:r>
            <a:r>
              <a:rPr lang="en-US" sz="2400" i="1" dirty="0" err="1"/>
              <a:t>conda</a:t>
            </a:r>
            <a:r>
              <a:rPr lang="en-US" sz="2400" i="1" dirty="0"/>
              <a:t> activate </a:t>
            </a:r>
            <a:r>
              <a:rPr lang="en-US" sz="2400" i="1" dirty="0" err="1"/>
              <a:t>opensense_training</a:t>
            </a:r>
            <a:r>
              <a:rPr lang="en-US" sz="2400" i="1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Navigate to repo </a:t>
            </a:r>
            <a:r>
              <a:rPr lang="en-US" sz="2400" i="1" dirty="0"/>
              <a:t>(cd </a:t>
            </a:r>
            <a:r>
              <a:rPr lang="en-US" sz="2400" i="1" dirty="0" err="1"/>
              <a:t>TrainingSchoolMergingApplication</a:t>
            </a:r>
            <a:r>
              <a:rPr lang="en-US" sz="2400" i="1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Branch for Day1 </a:t>
            </a:r>
            <a:r>
              <a:rPr lang="en-US" sz="2400" i="1" dirty="0"/>
              <a:t>(git checkout –b day1)</a:t>
            </a:r>
          </a:p>
          <a:p>
            <a:pPr>
              <a:lnSpc>
                <a:spcPct val="150000"/>
              </a:lnSpc>
            </a:pPr>
            <a:r>
              <a:rPr lang="en-US" dirty="0"/>
              <a:t>Initialize submodules (</a:t>
            </a:r>
            <a:r>
              <a:rPr lang="de-DE" sz="2400" i="1" dirty="0" err="1"/>
              <a:t>git</a:t>
            </a:r>
            <a:r>
              <a:rPr lang="de-DE" sz="2400" i="1" dirty="0"/>
              <a:t> </a:t>
            </a:r>
            <a:r>
              <a:rPr lang="de-DE" sz="2400" i="1" dirty="0" err="1"/>
              <a:t>submodule</a:t>
            </a:r>
            <a:r>
              <a:rPr lang="de-DE" sz="2400" i="1" dirty="0"/>
              <a:t> update --</a:t>
            </a:r>
            <a:r>
              <a:rPr lang="de-DE" sz="2400" i="1" dirty="0" err="1"/>
              <a:t>init</a:t>
            </a:r>
            <a:r>
              <a:rPr lang="de-DE" dirty="0"/>
              <a:t>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Start </a:t>
            </a:r>
            <a:r>
              <a:rPr lang="en-US" dirty="0" err="1"/>
              <a:t>Jupyter</a:t>
            </a:r>
            <a:r>
              <a:rPr lang="en-US" dirty="0"/>
              <a:t> lab </a:t>
            </a:r>
            <a:r>
              <a:rPr lang="en-US" i="1" dirty="0"/>
              <a:t>(</a:t>
            </a:r>
            <a:r>
              <a:rPr lang="en-US" sz="2400" i="1" dirty="0" err="1"/>
              <a:t>jupyter</a:t>
            </a:r>
            <a:r>
              <a:rPr lang="en-US" sz="2400" i="1" dirty="0"/>
              <a:t> lab -–no-browser</a:t>
            </a:r>
            <a:r>
              <a:rPr lang="en-US" i="1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31A76D-642D-BE44-B590-856EAB600E5C}"/>
              </a:ext>
            </a:extLst>
          </p:cNvPr>
          <p:cNvSpPr/>
          <p:nvPr/>
        </p:nvSpPr>
        <p:spPr>
          <a:xfrm>
            <a:off x="221167" y="5422301"/>
            <a:ext cx="8710047" cy="1890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95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900</Words>
  <Application>Microsoft Macintosh PowerPoint</Application>
  <PresentationFormat>Widescreen</PresentationFormat>
  <Paragraphs>176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Roboto Light</vt:lpstr>
      <vt:lpstr>Verdana</vt:lpstr>
      <vt:lpstr>Office Theme</vt:lpstr>
      <vt:lpstr>PowerPoint Presentation</vt:lpstr>
      <vt:lpstr>What is „Opportunistic Precipitation Sensing“? </vt:lpstr>
      <vt:lpstr>What are the goals of OpenSense?</vt:lpstr>
      <vt:lpstr>The OpenSense working groups</vt:lpstr>
      <vt:lpstr>Some achievements of OpenSense</vt:lpstr>
      <vt:lpstr>Working group “Data”</vt:lpstr>
      <vt:lpstr>Working group “Software &amp; Methods”</vt:lpstr>
      <vt:lpstr>Working group “Software &amp; Methods”</vt:lpstr>
      <vt:lpstr>Working group “Merging and application”</vt:lpstr>
      <vt:lpstr>… now to the next days!</vt:lpstr>
      <vt:lpstr>Agenda</vt:lpstr>
      <vt:lpstr>Software cosmos in Training School (1)</vt:lpstr>
      <vt:lpstr>Software cosmos in Training School (2)</vt:lpstr>
      <vt:lpstr>Intro round </vt:lpstr>
      <vt:lpstr>Add workshop material from github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21</cp:revision>
  <dcterms:created xsi:type="dcterms:W3CDTF">2025-03-31T07:02:58Z</dcterms:created>
  <dcterms:modified xsi:type="dcterms:W3CDTF">2025-04-01T15:50:04Z</dcterms:modified>
</cp:coreProperties>
</file>