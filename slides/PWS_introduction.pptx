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62" r:id="rId4"/>
    <p:sldId id="257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281"/>
  </p:normalViewPr>
  <p:slideViewPr>
    <p:cSldViewPr snapToGrid="0" snapToObjects="1">
      <p:cViewPr varScale="1">
        <p:scale>
          <a:sx n="115" d="100"/>
          <a:sy n="115" d="100"/>
        </p:scale>
        <p:origin x="208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22D29-C64B-E142-8ED2-2903E69CBC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196657-A4F1-604C-B3E2-AB06FFFB9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AA404-43F6-354E-ACCA-0422C2669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BAD5-FFC1-4F4A-877B-D998E36B1755}" type="datetimeFigureOut">
              <a:rPr lang="en-US" smtClean="0"/>
              <a:t>4/1/25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DFAD9-CE73-6E4F-BFA5-B30B69B81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D1151-9FD1-0B4C-A61F-21DD32011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01EA7-09C9-B84F-B306-0430ED5FC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055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B6386-8224-9549-A0F2-4963AFFB1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45410-BC18-F34C-A1AD-6621E7CCC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9BC150-A2F9-684E-8E8F-8F4A7D539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BAD5-FFC1-4F4A-877B-D998E36B1755}" type="datetimeFigureOut">
              <a:rPr lang="en-US" smtClean="0"/>
              <a:t>4/1/25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2D924-3554-5B42-8A18-C40062E10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51C57-FBCC-E643-9F5D-DDE66C12D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01EA7-09C9-B84F-B306-0430ED5FC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586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2EC40-8BDB-C44C-8F79-329FD19A8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EDC95B-C288-D148-93FC-1DCA625D0B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272E6-B76D-2148-BA05-92ED52CF5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BAD5-FFC1-4F4A-877B-D998E36B1755}" type="datetimeFigureOut">
              <a:rPr lang="en-US" smtClean="0"/>
              <a:t>4/1/25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CE811-C71C-AB49-81F1-E4F161E60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730D4-3AA1-604B-BF43-A36914D3E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01EA7-09C9-B84F-B306-0430ED5FC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468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857ED-7A57-064E-B836-AF52517FB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FD607-B7A4-0348-B0BD-C8C7A82AF2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2DEC3B-0CA8-6745-B357-11A4686321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F9CC02-94E9-0343-98C0-635AA7DB2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BAD5-FFC1-4F4A-877B-D998E36B1755}" type="datetimeFigureOut">
              <a:rPr lang="en-US" smtClean="0"/>
              <a:t>4/1/25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424DF7-7B03-1F41-9D17-3AA960630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7F9D5C-8328-5046-B70E-57A2F37EF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01EA7-09C9-B84F-B306-0430ED5FC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72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C1013-4D6E-4F4D-B1C8-BA2F4ADDA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148D7B-B757-F242-AA4E-C750641713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5D3856-AC9E-8A48-8934-C525D041B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0D28DF-DFE4-0D45-9A08-A7179BC2B5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EA6A5D-D47A-0845-911D-C78D9FF892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265746-0606-6B41-8689-6A671173F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BAD5-FFC1-4F4A-877B-D998E36B1755}" type="datetimeFigureOut">
              <a:rPr lang="en-US" smtClean="0"/>
              <a:t>4/1/25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018903-FC96-8348-92F5-A300214D9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C348B3-94C6-A04B-8DC2-C9A7EC692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01EA7-09C9-B84F-B306-0430ED5FC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013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13349-0BFB-B746-80E9-7C6C7BC04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1BD22D-25EA-5C43-A215-4ABB4092D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BAD5-FFC1-4F4A-877B-D998E36B1755}" type="datetimeFigureOut">
              <a:rPr lang="en-US" smtClean="0"/>
              <a:t>4/1/25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CEBA16-24C3-2044-8CF2-6DFF184EF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899AD8-61A0-A349-8214-48A1CDD39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01EA7-09C9-B84F-B306-0430ED5FC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541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3B4C42-11B4-F74A-A716-25734EA6D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BAD5-FFC1-4F4A-877B-D998E36B1755}" type="datetimeFigureOut">
              <a:rPr lang="en-US" smtClean="0"/>
              <a:t>4/1/25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FAEC26-70C2-EC49-B7D5-5304D13CC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F8420-E0FB-A74C-AE1E-735959DBB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01EA7-09C9-B84F-B306-0430ED5FC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746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B7E49-6A0D-A345-8994-E8F88B6D9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13E89-F3A6-5B46-91ED-78C24BE1E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6B2D6A-327E-8745-8CFC-EA87E6066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AA3D0F-C783-BB49-A8D4-1BCD05628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BAD5-FFC1-4F4A-877B-D998E36B1755}" type="datetimeFigureOut">
              <a:rPr lang="en-US" smtClean="0"/>
              <a:t>4/1/25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E8FE0D-8A45-054D-8929-E7F2DFA38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476025-39C0-054A-BB7B-5CAD30A00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01EA7-09C9-B84F-B306-0430ED5FC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651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B6374-0563-4A47-AB26-C23686B78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94F612-D089-0044-865C-383D1EACE7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01D846-7949-314B-843E-9C0A265ECD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21B062-CBA7-054B-B4BC-BC92F3120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BAD5-FFC1-4F4A-877B-D998E36B1755}" type="datetimeFigureOut">
              <a:rPr lang="en-US" smtClean="0"/>
              <a:t>4/1/25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4766E0-A959-5A41-9034-A0DA8A0C6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D9831A-2317-5642-BE3B-0DEE825B1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01EA7-09C9-B84F-B306-0430ED5FC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39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03A8D-BF4E-AB45-A086-6EC554D5C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EFBFB1-5384-6542-969D-C12C7F92D3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56A974-9EB7-BB46-A548-C2415C726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BAD5-FFC1-4F4A-877B-D998E36B1755}" type="datetimeFigureOut">
              <a:rPr lang="en-US" smtClean="0"/>
              <a:t>4/1/25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2DE37-2B49-EF40-9549-56F38936D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8DED6-A366-464A-8458-ACADD8D98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01EA7-09C9-B84F-B306-0430ED5FC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427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7F8D68-3BD6-984A-BCDF-2DD2DE2D88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71FEA4-2671-4C4A-BD06-C3761DF604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091FB-B2D8-0B44-A97E-87C56334C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1BAD5-FFC1-4F4A-877B-D998E36B1755}" type="datetimeFigureOut">
              <a:rPr lang="en-US" smtClean="0"/>
              <a:t>4/1/25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06080-1B57-C544-A194-3F04CC2D4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66B77-7E5A-E349-9910-E0D4A268E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01EA7-09C9-B84F-B306-0430ED5FC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011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339FA7-251E-B544-860E-D9A0189A0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930EEB-2AC8-F345-82ED-87212F9E7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DBDD80-EB47-264F-AD66-1B73C42207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B1BAD5-FFC1-4F4A-877B-D998E36B1755}" type="datetimeFigureOut">
              <a:rPr lang="en-US" smtClean="0"/>
              <a:t>4/1/25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2EAF3-69BC-8F4C-8B33-C115895622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1D636-7C4E-6848-89EA-F0290495C0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B01EA7-09C9-B84F-B306-0430ED5FC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643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255DA-C210-E94E-9CE3-51FC4E9DE6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193481"/>
            <a:ext cx="9144000" cy="2387600"/>
          </a:xfrm>
        </p:spPr>
        <p:txBody>
          <a:bodyPr/>
          <a:lstStyle/>
          <a:p>
            <a:r>
              <a:rPr lang="en-US" dirty="0"/>
              <a:t>Personal Weather Stations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06BFD8-051B-224D-8E96-FA2D8C75C0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86194"/>
            <a:ext cx="9144000" cy="1655762"/>
          </a:xfrm>
        </p:spPr>
        <p:txBody>
          <a:bodyPr/>
          <a:lstStyle/>
          <a:p>
            <a:r>
              <a:rPr lang="en-US" dirty="0"/>
              <a:t>PWS</a:t>
            </a:r>
          </a:p>
          <a:p>
            <a:r>
              <a:rPr lang="en-US" dirty="0"/>
              <a:t>for rainfall monitoring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4ED3A5-3E36-2841-8C2C-AAB9235779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576"/>
          <a:stretch/>
        </p:blipFill>
        <p:spPr>
          <a:xfrm>
            <a:off x="613318" y="2552790"/>
            <a:ext cx="3316248" cy="4133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993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B462B-6465-7D4D-AC21-23024E6AE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PWS e.g.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Netatmo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C1283-FDCD-F046-B16A-34FBEB983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manufactuerers</a:t>
            </a:r>
            <a:r>
              <a:rPr lang="de-DE" dirty="0"/>
              <a:t> e.g. Davis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3252FEE-0E05-3841-891B-387ECC4AAB61}"/>
              </a:ext>
            </a:extLst>
          </p:cNvPr>
          <p:cNvGrpSpPr>
            <a:grpSpLocks noChangeAspect="1"/>
          </p:cNvGrpSpPr>
          <p:nvPr/>
        </p:nvGrpSpPr>
        <p:grpSpPr>
          <a:xfrm>
            <a:off x="6687537" y="3217654"/>
            <a:ext cx="3191554" cy="2267899"/>
            <a:chOff x="542368" y="1571370"/>
            <a:chExt cx="4073929" cy="289490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119F6C4-C9F6-9C4A-836F-7E63FE1AC8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2368" y="1571370"/>
              <a:ext cx="3984061" cy="2887917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5F02BC6-BB22-D74F-ABAB-2E8E17F7ECCF}"/>
                </a:ext>
              </a:extLst>
            </p:cNvPr>
            <p:cNvSpPr/>
            <p:nvPr/>
          </p:nvSpPr>
          <p:spPr>
            <a:xfrm>
              <a:off x="2661779" y="4191271"/>
              <a:ext cx="1954518" cy="2750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800" dirty="0">
                  <a:solidFill>
                    <a:schemeClr val="bg1"/>
                  </a:solidFill>
                </a:rPr>
                <a:t>http://</a:t>
              </a:r>
              <a:r>
                <a:rPr lang="en-US" sz="800" dirty="0" err="1">
                  <a:solidFill>
                    <a:schemeClr val="bg1"/>
                  </a:solidFill>
                </a:rPr>
                <a:t>www.aragonvalley.com</a:t>
              </a:r>
              <a:r>
                <a:rPr lang="en-US" sz="800" dirty="0">
                  <a:solidFill>
                    <a:schemeClr val="bg1"/>
                  </a:solidFill>
                </a:rPr>
                <a:t>/</a:t>
              </a: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C62536B8-C9AB-EC4C-A2A1-93971E802C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599" y="3378820"/>
            <a:ext cx="5474755" cy="21951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C450BF3-EE4A-194F-9CEF-97EC66C4AE8A}"/>
              </a:ext>
            </a:extLst>
          </p:cNvPr>
          <p:cNvSpPr txBox="1"/>
          <p:nvPr/>
        </p:nvSpPr>
        <p:spPr>
          <a:xfrm>
            <a:off x="6792381" y="2506730"/>
            <a:ext cx="29248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Personal Weather Stations</a:t>
            </a:r>
          </a:p>
          <a:p>
            <a:pPr algn="ctr"/>
            <a:r>
              <a:rPr lang="en-US" dirty="0"/>
              <a:t>(e.g. from </a:t>
            </a:r>
            <a:r>
              <a:rPr lang="en-US" dirty="0" err="1"/>
              <a:t>Netatmo</a:t>
            </a:r>
            <a:r>
              <a:rPr lang="en-US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A2FD12-29D0-CA4F-BA9D-277A9B94C988}"/>
              </a:ext>
            </a:extLst>
          </p:cNvPr>
          <p:cNvSpPr txBox="1"/>
          <p:nvPr/>
        </p:nvSpPr>
        <p:spPr>
          <a:xfrm>
            <a:off x="3832446" y="5225614"/>
            <a:ext cx="8854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/>
              <a:t>netatmo.com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22456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7FEC2-F650-B24C-B300-6E1DDF988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There are at least ten times more PWS in Europe than met service rainfall stations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3FFB3DF-3D77-0E41-A005-EC8095F0637A}"/>
              </a:ext>
            </a:extLst>
          </p:cNvPr>
          <p:cNvGrpSpPr/>
          <p:nvPr/>
        </p:nvGrpSpPr>
        <p:grpSpPr>
          <a:xfrm>
            <a:off x="6408411" y="2623766"/>
            <a:ext cx="5479752" cy="2700000"/>
            <a:chOff x="461246" y="2788445"/>
            <a:chExt cx="5479752" cy="2700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1124C5D-1C87-E940-895E-61AC920C9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1246" y="2788445"/>
              <a:ext cx="5387640" cy="27000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3FAE2C6-1075-D740-882B-9A8A1647658B}"/>
                </a:ext>
              </a:extLst>
            </p:cNvPr>
            <p:cNvSpPr txBox="1"/>
            <p:nvPr/>
          </p:nvSpPr>
          <p:spPr>
            <a:xfrm>
              <a:off x="2357966" y="5106805"/>
              <a:ext cx="35830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Personal weather stations (PWS)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FDF8D44-D12D-594A-A3A6-7316E0F89572}"/>
              </a:ext>
            </a:extLst>
          </p:cNvPr>
          <p:cNvGrpSpPr/>
          <p:nvPr/>
        </p:nvGrpSpPr>
        <p:grpSpPr>
          <a:xfrm>
            <a:off x="2243663" y="2623766"/>
            <a:ext cx="9463178" cy="2892524"/>
            <a:chOff x="6353333" y="2241771"/>
            <a:chExt cx="9463178" cy="289252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E93CE56-5E14-734B-99AC-10C1991FC6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00000" r="-2646"/>
            <a:stretch/>
          </p:blipFill>
          <p:spPr>
            <a:xfrm>
              <a:off x="10062768" y="2241771"/>
              <a:ext cx="142902" cy="27000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0AFBC7B-80ED-3341-A459-7A45241AF2B6}"/>
                </a:ext>
              </a:extLst>
            </p:cNvPr>
            <p:cNvSpPr txBox="1"/>
            <p:nvPr/>
          </p:nvSpPr>
          <p:spPr>
            <a:xfrm>
              <a:off x="6353333" y="4598732"/>
              <a:ext cx="38523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Commercial microwave links (CML)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38E8DC1-2D71-9E4C-9BFE-43343E96A973}"/>
                </a:ext>
              </a:extLst>
            </p:cNvPr>
            <p:cNvSpPr txBox="1"/>
            <p:nvPr/>
          </p:nvSpPr>
          <p:spPr>
            <a:xfrm>
              <a:off x="14586687" y="4903463"/>
              <a:ext cx="122982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Overeem et al. 2024</a:t>
              </a:r>
            </a:p>
          </p:txBody>
        </p:sp>
      </p:grpSp>
      <p:pic>
        <p:nvPicPr>
          <p:cNvPr id="72" name="Picture 71">
            <a:extLst>
              <a:ext uri="{FF2B5EF4-FFF2-40B4-BE49-F238E27FC236}">
                <a16:creationId xmlns:a16="http://schemas.microsoft.com/office/drawing/2014/main" id="{1932548C-3D1A-024E-82F8-EE11C14E45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159" y="2252761"/>
            <a:ext cx="5393823" cy="3363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701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E2668-B04A-A441-9A5A-E797FCE8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Faulty zero filter (FZ)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8AC51-4731-AF4A-9ADA-9F14D0477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77000" cy="4351338"/>
          </a:xfrm>
        </p:spPr>
        <p:txBody>
          <a:bodyPr>
            <a:normAutofit fontScale="92500" lnSpcReduction="20000"/>
          </a:bodyPr>
          <a:lstStyle/>
          <a:p>
            <a:r>
              <a:rPr lang="de-DE" dirty="0"/>
              <a:t>Median </a:t>
            </a:r>
            <a:r>
              <a:rPr lang="de-DE" dirty="0" err="1"/>
              <a:t>rainfall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neighbouring</a:t>
            </a:r>
            <a:r>
              <a:rPr lang="de-DE" dirty="0"/>
              <a:t> </a:t>
            </a:r>
            <a:r>
              <a:rPr lang="de-DE" dirty="0" err="1"/>
              <a:t>stations</a:t>
            </a:r>
            <a:r>
              <a:rPr lang="de-DE" dirty="0"/>
              <a:t> in </a:t>
            </a:r>
            <a:r>
              <a:rPr lang="de-DE" dirty="0" err="1"/>
              <a:t>certain</a:t>
            </a:r>
            <a:r>
              <a:rPr lang="de-DE" dirty="0"/>
              <a:t> </a:t>
            </a:r>
            <a:r>
              <a:rPr lang="de-DE" dirty="0" err="1"/>
              <a:t>distance</a:t>
            </a:r>
            <a:r>
              <a:rPr lang="de-DE" dirty="0"/>
              <a:t> (</a:t>
            </a:r>
            <a:r>
              <a:rPr lang="de-DE" i="1" dirty="0" err="1"/>
              <a:t>max_distance</a:t>
            </a:r>
            <a:r>
              <a:rPr lang="de-DE" dirty="0"/>
              <a:t>) </a:t>
            </a:r>
            <a:r>
              <a:rPr lang="de-DE" dirty="0" err="1"/>
              <a:t>is</a:t>
            </a:r>
            <a:r>
              <a:rPr lang="de-DE" dirty="0"/>
              <a:t> larger </a:t>
            </a:r>
            <a:r>
              <a:rPr lang="de-DE" dirty="0" err="1"/>
              <a:t>than</a:t>
            </a:r>
            <a:r>
              <a:rPr lang="de-DE" dirty="0"/>
              <a:t> </a:t>
            </a:r>
            <a:r>
              <a:rPr lang="de-DE" dirty="0" err="1"/>
              <a:t>zero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at least </a:t>
            </a:r>
            <a:r>
              <a:rPr lang="de-DE" i="1" dirty="0" err="1"/>
              <a:t>nint</a:t>
            </a:r>
            <a:r>
              <a:rPr lang="de-DE" dirty="0"/>
              <a:t> time </a:t>
            </a:r>
            <a:r>
              <a:rPr lang="de-DE" dirty="0" err="1"/>
              <a:t>intervals</a:t>
            </a:r>
            <a:r>
              <a:rPr lang="de-DE" dirty="0"/>
              <a:t> </a:t>
            </a:r>
            <a:r>
              <a:rPr lang="de-DE" dirty="0" err="1"/>
              <a:t>while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station</a:t>
            </a:r>
            <a:r>
              <a:rPr lang="de-DE" dirty="0"/>
              <a:t> </a:t>
            </a:r>
            <a:r>
              <a:rPr lang="de-DE" dirty="0" err="1"/>
              <a:t>itself</a:t>
            </a:r>
            <a:r>
              <a:rPr lang="de-DE" dirty="0"/>
              <a:t> </a:t>
            </a:r>
            <a:r>
              <a:rPr lang="de-DE" dirty="0" err="1"/>
              <a:t>reports</a:t>
            </a:r>
            <a:r>
              <a:rPr lang="de-DE" dirty="0"/>
              <a:t> </a:t>
            </a:r>
            <a:r>
              <a:rPr lang="de-DE" dirty="0" err="1"/>
              <a:t>zero</a:t>
            </a:r>
            <a:r>
              <a:rPr lang="de-DE" dirty="0"/>
              <a:t> </a:t>
            </a:r>
            <a:r>
              <a:rPr lang="de-DE" dirty="0" err="1"/>
              <a:t>rainfall</a:t>
            </a:r>
            <a:r>
              <a:rPr lang="de-DE" dirty="0"/>
              <a:t>.</a:t>
            </a:r>
          </a:p>
          <a:p>
            <a:r>
              <a:rPr lang="de-DE" dirty="0"/>
              <a:t>The FZ </a:t>
            </a:r>
            <a:r>
              <a:rPr lang="de-DE" dirty="0" err="1"/>
              <a:t>flag</a:t>
            </a:r>
            <a:r>
              <a:rPr lang="de-DE" dirty="0"/>
              <a:t> </a:t>
            </a:r>
            <a:r>
              <a:rPr lang="de-DE" dirty="0" err="1"/>
              <a:t>remains</a:t>
            </a:r>
            <a:r>
              <a:rPr lang="de-DE" dirty="0"/>
              <a:t> 1 </a:t>
            </a:r>
            <a:r>
              <a:rPr lang="de-DE" dirty="0" err="1"/>
              <a:t>until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station</a:t>
            </a:r>
            <a:r>
              <a:rPr lang="de-DE" dirty="0"/>
              <a:t> </a:t>
            </a:r>
            <a:r>
              <a:rPr lang="de-DE" dirty="0" err="1"/>
              <a:t>reports</a:t>
            </a:r>
            <a:r>
              <a:rPr lang="de-DE" dirty="0"/>
              <a:t> </a:t>
            </a:r>
            <a:r>
              <a:rPr lang="de-DE" dirty="0" err="1"/>
              <a:t>nonzero</a:t>
            </a:r>
            <a:r>
              <a:rPr lang="de-DE" dirty="0"/>
              <a:t> </a:t>
            </a:r>
            <a:r>
              <a:rPr lang="de-DE" dirty="0" err="1"/>
              <a:t>rainfall</a:t>
            </a:r>
            <a:r>
              <a:rPr lang="de-DE" dirty="0"/>
              <a:t>.</a:t>
            </a:r>
          </a:p>
          <a:p>
            <a:r>
              <a:rPr lang="de-DE" dirty="0"/>
              <a:t>Filter </a:t>
            </a:r>
            <a:r>
              <a:rPr lang="de-DE" dirty="0" err="1"/>
              <a:t>cannot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applied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less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 </a:t>
            </a:r>
            <a:r>
              <a:rPr lang="de-DE" dirty="0" err="1"/>
              <a:t>n_</a:t>
            </a:r>
            <a:r>
              <a:rPr lang="de-DE" i="1" dirty="0" err="1"/>
              <a:t>stat</a:t>
            </a:r>
            <a:r>
              <a:rPr lang="de-DE" dirty="0"/>
              <a:t> </a:t>
            </a:r>
            <a:r>
              <a:rPr lang="de-DE" dirty="0" err="1"/>
              <a:t>neighbours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reporting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(FZ </a:t>
            </a:r>
            <a:r>
              <a:rPr lang="de-DE" dirty="0" err="1"/>
              <a:t>flag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set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-1)</a:t>
            </a:r>
            <a:endParaRPr lang="en-US" dirty="0"/>
          </a:p>
          <a:p>
            <a:endParaRPr lang="en-US" dirty="0"/>
          </a:p>
          <a:p>
            <a:r>
              <a:rPr lang="en-US" dirty="0"/>
              <a:t>Default parameters from de Vos et al. 2019</a:t>
            </a:r>
          </a:p>
          <a:p>
            <a:pPr lvl="1"/>
            <a:r>
              <a:rPr lang="en-US" dirty="0" err="1"/>
              <a:t>nint</a:t>
            </a:r>
            <a:r>
              <a:rPr lang="en-US" dirty="0"/>
              <a:t>=5</a:t>
            </a:r>
          </a:p>
          <a:p>
            <a:pPr lvl="1"/>
            <a:r>
              <a:rPr lang="en-US" dirty="0" err="1"/>
              <a:t>n_stat</a:t>
            </a:r>
            <a:r>
              <a:rPr lang="en-US" dirty="0"/>
              <a:t>=6</a:t>
            </a:r>
            <a:endParaRPr lang="de-DE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459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264E8-A456-1C46-B032-B7A78F150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influx filter (HI)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749C8-76C4-394D-B721-3A2E4A04D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53254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If median rainfall of </a:t>
            </a:r>
            <a:r>
              <a:rPr lang="en-US" dirty="0" err="1"/>
              <a:t>neighbours</a:t>
            </a:r>
            <a:r>
              <a:rPr lang="en-US" dirty="0"/>
              <a:t> is below threshold </a:t>
            </a:r>
            <a:r>
              <a:rPr lang="el-GR" dirty="0" err="1"/>
              <a:t>ϕ</a:t>
            </a:r>
            <a:r>
              <a:rPr lang="en-US" dirty="0"/>
              <a:t>A, then high influx if rainfall above threshold </a:t>
            </a:r>
            <a:r>
              <a:rPr lang="el-GR" dirty="0" err="1"/>
              <a:t>ϕ</a:t>
            </a:r>
            <a:r>
              <a:rPr lang="en-US" dirty="0"/>
              <a:t>B</a:t>
            </a:r>
          </a:p>
          <a:p>
            <a:r>
              <a:rPr lang="en-US" dirty="0"/>
              <a:t>If median rainfall of </a:t>
            </a:r>
            <a:r>
              <a:rPr lang="en-US" dirty="0" err="1"/>
              <a:t>neighbours</a:t>
            </a:r>
            <a:r>
              <a:rPr lang="en-US" dirty="0"/>
              <a:t> is above </a:t>
            </a:r>
            <a:r>
              <a:rPr lang="el-GR" dirty="0" err="1"/>
              <a:t>ϕ</a:t>
            </a:r>
            <a:r>
              <a:rPr lang="en-US" dirty="0"/>
              <a:t>A, then high influx if rainfall exceeds median times </a:t>
            </a:r>
            <a:r>
              <a:rPr lang="el-GR" dirty="0" err="1"/>
              <a:t>ϕ</a:t>
            </a:r>
            <a:r>
              <a:rPr lang="en-US" dirty="0"/>
              <a:t>B/</a:t>
            </a:r>
            <a:r>
              <a:rPr lang="el-GR" dirty="0" err="1"/>
              <a:t>ϕ</a:t>
            </a:r>
            <a:r>
              <a:rPr lang="en-US" dirty="0"/>
              <a:t>A</a:t>
            </a:r>
          </a:p>
          <a:p>
            <a:r>
              <a:rPr lang="en-US" dirty="0"/>
              <a:t>Filter cannot be applied if less than </a:t>
            </a:r>
            <a:r>
              <a:rPr lang="en-US" dirty="0" err="1"/>
              <a:t>n_stat</a:t>
            </a:r>
            <a:r>
              <a:rPr lang="en-US" dirty="0"/>
              <a:t> </a:t>
            </a:r>
            <a:r>
              <a:rPr lang="en-US" dirty="0" err="1"/>
              <a:t>neighbours</a:t>
            </a:r>
            <a:r>
              <a:rPr lang="en-US" dirty="0"/>
              <a:t> are reporting data (HI flag is set to -1)</a:t>
            </a:r>
          </a:p>
          <a:p>
            <a:r>
              <a:rPr lang="en-US" dirty="0"/>
              <a:t>Default parameters from de Vos et al. 2019</a:t>
            </a:r>
          </a:p>
          <a:p>
            <a:pPr lvl="1"/>
            <a:r>
              <a:rPr lang="en-US" dirty="0"/>
              <a:t> </a:t>
            </a:r>
            <a:r>
              <a:rPr lang="en-US" dirty="0" err="1"/>
              <a:t>hi_thres_a</a:t>
            </a:r>
            <a:r>
              <a:rPr lang="en-US" dirty="0"/>
              <a:t>=0.4</a:t>
            </a:r>
          </a:p>
          <a:p>
            <a:pPr lvl="1"/>
            <a:r>
              <a:rPr lang="en-US" dirty="0"/>
              <a:t> </a:t>
            </a:r>
            <a:r>
              <a:rPr lang="en-US" dirty="0" err="1"/>
              <a:t>hi_thres_b</a:t>
            </a:r>
            <a:r>
              <a:rPr lang="en-US" dirty="0"/>
              <a:t>=10</a:t>
            </a:r>
          </a:p>
          <a:p>
            <a:pPr lvl="1"/>
            <a:r>
              <a:rPr lang="en-US" dirty="0"/>
              <a:t> </a:t>
            </a:r>
            <a:r>
              <a:rPr lang="en-US" dirty="0" err="1"/>
              <a:t>nint</a:t>
            </a:r>
            <a:r>
              <a:rPr lang="en-US" dirty="0"/>
              <a:t>=6</a:t>
            </a:r>
          </a:p>
          <a:p>
            <a:pPr lvl="1"/>
            <a:r>
              <a:rPr lang="en-US" dirty="0"/>
              <a:t> </a:t>
            </a:r>
            <a:r>
              <a:rPr lang="en-US" dirty="0" err="1"/>
              <a:t>n_stat</a:t>
            </a:r>
            <a:r>
              <a:rPr lang="en-US" dirty="0"/>
              <a:t>=5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665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AD4FC-ECB0-F248-88FF-26532158D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Station outlier filter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51B21-45D8-FF49-A025-1E382EF78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31673" cy="435133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Median of the rolling </a:t>
            </a:r>
            <a:r>
              <a:rPr lang="en-US" dirty="0" err="1"/>
              <a:t>pearson</a:t>
            </a:r>
            <a:r>
              <a:rPr lang="en-US" dirty="0"/>
              <a:t> correlation with all neighboring stations within range </a:t>
            </a:r>
            <a:r>
              <a:rPr lang="en-US" i="1" dirty="0" err="1"/>
              <a:t>max_distance</a:t>
            </a:r>
            <a:r>
              <a:rPr lang="en-US" i="1" dirty="0"/>
              <a:t> </a:t>
            </a:r>
            <a:r>
              <a:rPr lang="en-US" dirty="0"/>
              <a:t>is less than threshold </a:t>
            </a:r>
            <a:r>
              <a:rPr lang="en-US" i="1" dirty="0"/>
              <a:t>gamma</a:t>
            </a:r>
          </a:p>
          <a:p>
            <a:r>
              <a:rPr lang="en-US" dirty="0"/>
              <a:t>Filter cannot be applied if less than </a:t>
            </a:r>
            <a:r>
              <a:rPr lang="en-US" i="1" dirty="0" err="1"/>
              <a:t>n_sta</a:t>
            </a:r>
            <a:r>
              <a:rPr lang="en-US" dirty="0" err="1"/>
              <a:t>t</a:t>
            </a:r>
            <a:r>
              <a:rPr lang="en-US" dirty="0"/>
              <a:t> </a:t>
            </a:r>
            <a:r>
              <a:rPr lang="en-US" dirty="0" err="1"/>
              <a:t>neighbours</a:t>
            </a:r>
            <a:r>
              <a:rPr lang="en-US" dirty="0"/>
              <a:t> are reporting data (SO flag is set to -1)</a:t>
            </a:r>
          </a:p>
          <a:p>
            <a:r>
              <a:rPr lang="en-US" dirty="0"/>
              <a:t>Filter cannot be applied if there are less than </a:t>
            </a:r>
            <a:r>
              <a:rPr lang="en-US" i="1" dirty="0" err="1"/>
              <a:t>n_stat</a:t>
            </a:r>
            <a:r>
              <a:rPr lang="en-US" i="1" dirty="0"/>
              <a:t> </a:t>
            </a:r>
            <a:r>
              <a:rPr lang="en-US" dirty="0" err="1"/>
              <a:t>neighbours</a:t>
            </a:r>
            <a:r>
              <a:rPr lang="en-US" dirty="0"/>
              <a:t> with less than </a:t>
            </a:r>
            <a:r>
              <a:rPr lang="en-US" i="1" dirty="0" err="1"/>
              <a:t>mmatch</a:t>
            </a:r>
            <a:r>
              <a:rPr lang="en-US" dirty="0"/>
              <a:t> intervals overlapping with the evaluated station (SO flag is set to -1)</a:t>
            </a:r>
          </a:p>
          <a:p>
            <a:r>
              <a:rPr lang="en-US" dirty="0"/>
              <a:t>Default parameters from de Vos et al. 2019</a:t>
            </a:r>
          </a:p>
          <a:p>
            <a:pPr lvl="1"/>
            <a:r>
              <a:rPr lang="en-US" dirty="0" err="1"/>
              <a:t>evaluation_period</a:t>
            </a:r>
            <a:r>
              <a:rPr lang="en-US" dirty="0"/>
              <a:t> = 8064 # two weeks </a:t>
            </a:r>
          </a:p>
          <a:p>
            <a:pPr lvl="1"/>
            <a:r>
              <a:rPr lang="en-US" dirty="0" err="1"/>
              <a:t>mmatch</a:t>
            </a:r>
            <a:r>
              <a:rPr lang="en-US" dirty="0"/>
              <a:t> = 200</a:t>
            </a:r>
          </a:p>
          <a:p>
            <a:pPr lvl="1"/>
            <a:r>
              <a:rPr lang="en-US" dirty="0"/>
              <a:t>gamma = 0.15</a:t>
            </a:r>
          </a:p>
          <a:p>
            <a:pPr lvl="1"/>
            <a:r>
              <a:rPr lang="en-US" dirty="0" err="1"/>
              <a:t>n_stat</a:t>
            </a:r>
            <a:r>
              <a:rPr lang="en-US" dirty="0"/>
              <a:t> = 5</a:t>
            </a:r>
          </a:p>
          <a:p>
            <a:pPr lvl="1"/>
            <a:r>
              <a:rPr lang="en-US" dirty="0" err="1"/>
              <a:t>max_distance</a:t>
            </a:r>
            <a:r>
              <a:rPr lang="en-US" dirty="0"/>
              <a:t> = 10e3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1790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97419-3BC7-5441-908D-53FFF1864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Indicator correlation filter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1C96C-3E98-F34F-8640-995944A19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Flags whole time series based on the indicator time series of PWS and trustworthy reference stations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C90588-6491-DC4A-909C-B46466EFC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814" y="2785327"/>
            <a:ext cx="5132372" cy="383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320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405</Words>
  <Application>Microsoft Macintosh PowerPoint</Application>
  <PresentationFormat>Widescreen</PresentationFormat>
  <Paragraphs>42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Personal Weather Stations</vt:lpstr>
      <vt:lpstr>PWS e.g. from Netatmo</vt:lpstr>
      <vt:lpstr>There are at least ten times more PWS in Europe than met service rainfall stations</vt:lpstr>
      <vt:lpstr>Faulty zero filter (FZ)</vt:lpstr>
      <vt:lpstr>High influx filter (HI)</vt:lpstr>
      <vt:lpstr>Station outlier filter</vt:lpstr>
      <vt:lpstr>Indicator correlation filter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8</cp:revision>
  <dcterms:created xsi:type="dcterms:W3CDTF">2025-03-31T23:38:09Z</dcterms:created>
  <dcterms:modified xsi:type="dcterms:W3CDTF">2025-03-31T23:45:26Z</dcterms:modified>
</cp:coreProperties>
</file>