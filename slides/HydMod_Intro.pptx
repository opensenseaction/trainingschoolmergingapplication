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wmf" ContentType="image/x-wmf"/>
  <Override PartName="/ppt/media/image5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9926638" cy="679767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de-DE" sz="3600" spc="-1" strike="noStrike">
                <a:solidFill>
                  <a:srgbClr val="000000"/>
                </a:solidFill>
                <a:latin typeface="Arial"/>
              </a:rPr>
              <a:t>Folie mittels Klicken verschieben</a:t>
            </a:r>
            <a:endParaRPr b="0" lang="de-DE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Format der Notizen mittels Klicken bearbeiten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&lt;Kopfzeile&gt;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&lt;Datum/Uhrzeit&gt;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2F8AC83-3758-479F-BBD4-080C696F3FC8}" type="slidenum"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&lt;Foliennummer&gt;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2697120" y="511200"/>
            <a:ext cx="4528800" cy="254772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990360" y="3229200"/>
            <a:ext cx="7945560" cy="3057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800" rIns="91800" anchor="t">
            <a:noAutofit/>
          </a:bodyPr>
          <a:p>
            <a:pPr marL="216000"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7"/>
          </p:nvPr>
        </p:nvSpPr>
        <p:spPr>
          <a:xfrm>
            <a:off x="5620680" y="6455880"/>
            <a:ext cx="4303440" cy="3402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800" rIns="9180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de-DE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A615C66-34E5-415F-B21E-F970A6E782C8}" type="slidenum">
              <a:rPr b="0" lang="de-DE" sz="1200" spc="-1" strike="noStrike">
                <a:solidFill>
                  <a:srgbClr val="000000"/>
                </a:solidFill>
                <a:latin typeface="Times New Roman"/>
              </a:rPr>
              <a:t>2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2697120" y="511200"/>
            <a:ext cx="4528800" cy="254772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990360" y="3229200"/>
            <a:ext cx="7945560" cy="3057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800" rIns="91800" anchor="t">
            <a:noAutofit/>
          </a:bodyPr>
          <a:p>
            <a:pPr marL="216000"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8"/>
          </p:nvPr>
        </p:nvSpPr>
        <p:spPr>
          <a:xfrm>
            <a:off x="5620680" y="6455880"/>
            <a:ext cx="4303440" cy="3402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800" rIns="9180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de-DE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3973460-A5F5-4194-A0B5-F8906CB8799B}" type="slidenum">
              <a:rPr b="0" lang="de-DE" sz="1200" spc="-1" strike="noStrike">
                <a:solidFill>
                  <a:srgbClr val="000000"/>
                </a:solidFill>
                <a:latin typeface="Times New Roman"/>
              </a:rPr>
              <a:t>2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2697120" y="511200"/>
            <a:ext cx="4528800" cy="254772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990360" y="3229200"/>
            <a:ext cx="7945560" cy="3057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800" rIns="918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Hier eine Übersicht mit verschiedenen Bilder die die einzelnen Punkte des PICOs symbolisieren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9"/>
          </p:nvPr>
        </p:nvSpPr>
        <p:spPr>
          <a:xfrm>
            <a:off x="5620680" y="6455880"/>
            <a:ext cx="4303440" cy="3402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800" rIns="9180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de-DE" sz="12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D32F5B8-A062-4803-B3A0-1842E0C7BF01}" type="slidenum">
              <a:rPr b="0" lang="de-DE" sz="1200" spc="-1" strike="noStrike">
                <a:solidFill>
                  <a:srgbClr val="000000"/>
                </a:solidFill>
                <a:latin typeface="Arial"/>
              </a:rPr>
              <a:t>2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2697120" y="511200"/>
            <a:ext cx="4528800" cy="254772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990360" y="3229200"/>
            <a:ext cx="7945560" cy="3057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800" rIns="91800" anchor="t">
            <a:noAutofit/>
          </a:bodyPr>
          <a:p>
            <a:pPr marL="216000"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10"/>
          </p:nvPr>
        </p:nvSpPr>
        <p:spPr>
          <a:xfrm>
            <a:off x="5620680" y="6455880"/>
            <a:ext cx="4303440" cy="3402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800" rIns="9180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de-DE" sz="12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D8DB661-679A-48EC-9758-E806A51FA03C}" type="slidenum">
              <a:rPr b="0" lang="de-DE" sz="1200" spc="-1" strike="noStrike">
                <a:solidFill>
                  <a:srgbClr val="000000"/>
                </a:solidFill>
                <a:latin typeface="Arial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A810EA-43CE-4145-BA9B-1B35D590C7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307E4A-AEC8-42EF-B6AB-3AE4BE1E7D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28EB62-E581-4E32-878C-510958F835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BF5B08-FEF5-4E0A-A0E8-1C4EB8DB1B3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7EC836-05DC-4169-9F47-10F84DB2027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C84ACD-C122-4626-81CD-0EB0D459B7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09BB33-3F85-4AC1-B43C-778E9B1440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FADC6E-4473-4AFB-87AE-7D50D0D0C6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9BF310-C793-4DAD-9FDB-48C7C5EA34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CCD6EA-4883-4C86-9045-517CF757626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F0C722-4B72-4B09-B573-70A933BA777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4CC7B8-5EA6-466C-BA13-D1EFC37B8F9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35520" y="130680"/>
            <a:ext cx="11521080" cy="63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9000"/>
          </a:bodyPr>
          <a:p>
            <a:pPr indent="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1f497d"/>
                </a:solidFill>
                <a:latin typeface="Arial"/>
              </a:rPr>
              <a:t>Click to edit Master title style</a:t>
            </a:r>
            <a:endParaRPr b="0" lang="de-DE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335520" y="980640"/>
            <a:ext cx="11521080" cy="5145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Master text styles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level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level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de-DE" sz="3600" spc="-1" strike="noStrike">
                <a:solidFill>
                  <a:srgbClr val="1f497d"/>
                </a:solidFill>
                <a:latin typeface="Arial"/>
              </a:rPr>
              <a:t>Titelmasterformat durch Klicken bearbeiten</a:t>
            </a:r>
            <a:endParaRPr b="0" lang="de-DE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rgbClr val="000000"/>
                </a:solidFill>
                <a:latin typeface="Arial"/>
              </a:rPr>
              <a:t>Format des Gliederungstextes durch Klicken bearbeiten</a:t>
            </a: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400" spc="-1" strike="noStrike">
                <a:solidFill>
                  <a:srgbClr val="000000"/>
                </a:solidFill>
                <a:latin typeface="Arial"/>
              </a:rPr>
              <a:t>Zweite Gliederungsebene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Dritte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Vierte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Fünfte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Sechste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Siebte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rgbClr val="000000"/>
                </a:solidFill>
                <a:latin typeface="Calibri Light"/>
              </a:rPr>
              <a:t>Mastertitelformat bearbeiten</a:t>
            </a:r>
            <a:endParaRPr b="0" lang="de-DE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rgbClr val="000000"/>
                </a:solidFill>
                <a:latin typeface="Calibri"/>
              </a:rPr>
              <a:t>Mastertextformat bearbeiten</a:t>
            </a: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400" spc="-1" strike="noStrike">
                <a:solidFill>
                  <a:srgbClr val="000000"/>
                </a:solidFill>
                <a:latin typeface="Calibri"/>
              </a:rPr>
              <a:t>Zweite Ebene</a:t>
            </a:r>
            <a:endParaRPr b="0" lang="de-DE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Calibri"/>
              </a:rPr>
              <a:t>Dritte Ebene</a:t>
            </a:r>
            <a:endParaRPr b="0" lang="de-DE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rgbClr val="000000"/>
                </a:solidFill>
                <a:latin typeface="Calibri"/>
              </a:rPr>
              <a:t>Vierte Ebene</a:t>
            </a: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rgbClr val="000000"/>
                </a:solidFill>
                <a:latin typeface="Calibri"/>
              </a:rPr>
              <a:t>Fünfte Ebene</a:t>
            </a: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de-DE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rgbClr val="8b8b8b"/>
                </a:solidFill>
                <a:latin typeface="Calibri"/>
              </a:rPr>
              <a:t>&lt;Datum/Uhrzeit&gt;</a:t>
            </a:r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de-DE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58C5AFE-070D-4E51-8D58-DFA054DDFC4F}" type="slidenum">
              <a:rPr b="0" lang="de-DE" sz="1200" spc="-1" strike="noStrike">
                <a:solidFill>
                  <a:srgbClr val="8b8b8b"/>
                </a:solidFill>
                <a:latin typeface="Calibri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wmf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335520" y="130680"/>
            <a:ext cx="11521080" cy="63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9000"/>
          </a:bodyPr>
          <a:p>
            <a:pPr indent="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70c0"/>
                </a:solidFill>
                <a:latin typeface="Univers for UniS 55 Roman Rg"/>
              </a:rPr>
              <a:t>The Ahr valley flood in July 2021</a:t>
            </a:r>
            <a:endParaRPr b="0" lang="de-DE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335520" y="980640"/>
            <a:ext cx="4032000" cy="5145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4f81bd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Univers for UniS 55 Roman Rg"/>
              </a:rPr>
              <a:t>Severe Rainfall in Western parts of Germany and adjacent areas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4f81bd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Univers for UniS 55 Roman Rg"/>
              </a:rPr>
              <a:t>Flood in the Ahr valley lead to severe damages and loss of lives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4f81bd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Univers for UniS 55 Roman Rg"/>
              </a:rPr>
              <a:t>Correct precipitation estimates is still a major challenge in Hydrology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</a:pP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</a:pP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Grafik 4" descr=""/>
          <p:cNvPicPr/>
          <p:nvPr/>
        </p:nvPicPr>
        <p:blipFill>
          <a:blip r:embed="rId1"/>
          <a:stretch/>
        </p:blipFill>
        <p:spPr>
          <a:xfrm>
            <a:off x="4435560" y="836280"/>
            <a:ext cx="3655440" cy="4942080"/>
          </a:xfrm>
          <a:prstGeom prst="rect">
            <a:avLst/>
          </a:prstGeom>
          <a:ln w="0">
            <a:noFill/>
          </a:ln>
        </p:spPr>
      </p:pic>
      <p:pic>
        <p:nvPicPr>
          <p:cNvPr id="126" name="Grafik 8" descr=""/>
          <p:cNvPicPr/>
          <p:nvPr/>
        </p:nvPicPr>
        <p:blipFill>
          <a:blip r:embed="rId2"/>
          <a:stretch/>
        </p:blipFill>
        <p:spPr>
          <a:xfrm>
            <a:off x="8272800" y="2637000"/>
            <a:ext cx="3655440" cy="2544120"/>
          </a:xfrm>
          <a:prstGeom prst="rect">
            <a:avLst/>
          </a:prstGeom>
          <a:ln w="0">
            <a:noFill/>
          </a:ln>
        </p:spPr>
      </p:pic>
      <p:sp>
        <p:nvSpPr>
          <p:cNvPr id="127" name="Rechteck 9"/>
          <p:cNvSpPr/>
          <p:nvPr/>
        </p:nvSpPr>
        <p:spPr>
          <a:xfrm>
            <a:off x="7722000" y="1340640"/>
            <a:ext cx="413460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lvl="1" marL="800280" indent="-343080">
              <a:lnSpc>
                <a:spcPct val="100000"/>
              </a:lnSpc>
              <a:buClr>
                <a:srgbClr val="4f81bd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Univers for UniS 55 Roman Rg"/>
              </a:rPr>
              <a:t>Peak discharges of this flood events still unknown/uncertain 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335520" y="130680"/>
            <a:ext cx="11521080" cy="63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9000"/>
          </a:bodyPr>
          <a:p>
            <a:pPr indent="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70c0"/>
                </a:solidFill>
                <a:latin typeface="Univers for UniS 55 Roman Rg"/>
              </a:rPr>
              <a:t>The Ahr valley flood in July 2021</a:t>
            </a:r>
            <a:endParaRPr b="0" lang="de-DE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9" name="Grafik 7" descr=""/>
          <p:cNvPicPr/>
          <p:nvPr/>
        </p:nvPicPr>
        <p:blipFill>
          <a:blip r:embed="rId1"/>
          <a:srcRect l="15522" t="11172" r="33476" b="31074"/>
          <a:stretch/>
        </p:blipFill>
        <p:spPr>
          <a:xfrm>
            <a:off x="1631520" y="644760"/>
            <a:ext cx="8640720" cy="6115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rafik 1" descr=""/>
          <p:cNvPicPr/>
          <p:nvPr/>
        </p:nvPicPr>
        <p:blipFill>
          <a:blip r:embed="rId1"/>
          <a:stretch/>
        </p:blipFill>
        <p:spPr>
          <a:xfrm>
            <a:off x="2185560" y="1578600"/>
            <a:ext cx="7833240" cy="5013000"/>
          </a:xfrm>
          <a:prstGeom prst="rect">
            <a:avLst/>
          </a:prstGeom>
          <a:ln w="0">
            <a:noFill/>
          </a:ln>
        </p:spPr>
      </p:pic>
      <p:sp>
        <p:nvSpPr>
          <p:cNvPr id="131" name="Textfeld 2"/>
          <p:cNvSpPr/>
          <p:nvPr/>
        </p:nvSpPr>
        <p:spPr>
          <a:xfrm>
            <a:off x="2603520" y="282600"/>
            <a:ext cx="69843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GB" sz="3600" spc="-1" strike="noStrike">
                <a:solidFill>
                  <a:srgbClr val="0070c0"/>
                </a:solidFill>
                <a:latin typeface="Univers for UniS 55 Roman Rg"/>
              </a:rPr>
              <a:t>Gauge adjusted radar product</a:t>
            </a:r>
            <a:endParaRPr b="0" lang="de-DE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feld 3"/>
          <p:cNvSpPr/>
          <p:nvPr/>
        </p:nvSpPr>
        <p:spPr>
          <a:xfrm>
            <a:off x="2603520" y="282600"/>
            <a:ext cx="69843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GB" sz="3600" spc="-1" strike="noStrike">
                <a:solidFill>
                  <a:srgbClr val="0070c0"/>
                </a:solidFill>
                <a:latin typeface="Univers for UniS 55 Roman Rg"/>
              </a:rPr>
              <a:t>The HBV Model</a:t>
            </a:r>
            <a:endParaRPr b="0" lang="de-DE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Grafik 4" descr=""/>
          <p:cNvPicPr/>
          <p:nvPr/>
        </p:nvPicPr>
        <p:blipFill>
          <a:blip r:embed="rId1"/>
          <a:stretch/>
        </p:blipFill>
        <p:spPr>
          <a:xfrm>
            <a:off x="2603520" y="1990440"/>
            <a:ext cx="7214760" cy="4867200"/>
          </a:xfrm>
          <a:prstGeom prst="rect">
            <a:avLst/>
          </a:prstGeom>
          <a:ln w="0">
            <a:noFill/>
          </a:ln>
        </p:spPr>
      </p:pic>
      <p:sp>
        <p:nvSpPr>
          <p:cNvPr id="134" name="Textfeld 5"/>
          <p:cNvSpPr/>
          <p:nvPr/>
        </p:nvSpPr>
        <p:spPr>
          <a:xfrm>
            <a:off x="737280" y="1159200"/>
            <a:ext cx="78354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de-DE" sz="2400" spc="-1" strike="noStrike">
                <a:solidFill>
                  <a:srgbClr val="000000"/>
                </a:solidFill>
                <a:latin typeface="Arial"/>
              </a:rPr>
              <a:t>Conceptual hydrological model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de-DE" sz="2400" spc="-1" strike="noStrike">
                <a:solidFill>
                  <a:srgbClr val="000000"/>
                </a:solidFill>
                <a:latin typeface="Arial"/>
              </a:rPr>
              <a:t>Developed by Bergström et al. In the 1970s in Sweden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Rechteck 6"/>
          <p:cNvSpPr/>
          <p:nvPr/>
        </p:nvSpPr>
        <p:spPr>
          <a:xfrm>
            <a:off x="5040" y="6477120"/>
            <a:ext cx="267120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1400" spc="-1" strike="noStrike">
                <a:solidFill>
                  <a:srgbClr val="000000"/>
                </a:solidFill>
                <a:latin typeface="Arial"/>
              </a:rPr>
              <a:t>Shrestha &amp; Solomantine (2008)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rgbClr val="000000"/>
                </a:solidFill>
                <a:latin typeface="Calibri Light"/>
              </a:rPr>
              <a:t>Update your git repo</a:t>
            </a:r>
            <a:endParaRPr b="0" lang="de-DE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180000" y="1825560"/>
            <a:ext cx="120121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rgbClr val="000000"/>
                </a:solidFill>
                <a:latin typeface="Calibri"/>
              </a:rPr>
              <a:t>Navigate to the dir of TrainingSchoolMergingApplication</a:t>
            </a: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800" spc="-1" strike="noStrike">
                <a:solidFill>
                  <a:srgbClr val="000000"/>
                </a:solidFill>
                <a:latin typeface="Calibri"/>
              </a:rPr>
              <a:t>git add *</a:t>
            </a:r>
            <a:r>
              <a:rPr b="0" lang="de-DE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de-DE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de-DE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de-DE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de-DE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de-DE" sz="2000" spc="-1" strike="noStrike">
                <a:solidFill>
                  <a:srgbClr val="000000"/>
                </a:solidFill>
                <a:latin typeface="Calibri"/>
              </a:rPr>
              <a:t># tells git to track all new/changed files</a:t>
            </a:r>
            <a:endParaRPr b="0" lang="de-DE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800" spc="-1" strike="noStrike">
                <a:solidFill>
                  <a:srgbClr val="000000"/>
                </a:solidFill>
                <a:latin typeface="Calibri"/>
              </a:rPr>
              <a:t>git commit –m „day2 changes“</a:t>
            </a:r>
            <a:r>
              <a:rPr b="0" lang="de-DE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de-DE" sz="2000" spc="-1" strike="noStrike">
                <a:solidFill>
                  <a:srgbClr val="000000"/>
                </a:solidFill>
                <a:latin typeface="Calibri"/>
              </a:rPr>
              <a:t># </a:t>
            </a:r>
            <a:r>
              <a:rPr b="0" lang="de-DE" sz="1800" spc="-1" strike="noStrike">
                <a:solidFill>
                  <a:srgbClr val="000000"/>
                </a:solidFill>
                <a:latin typeface="Calibri"/>
              </a:rPr>
              <a:t>tells git to commit added files to history</a:t>
            </a:r>
            <a:endParaRPr b="0" lang="de-DE" sz="1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800" spc="-1" strike="noStrike">
                <a:solidFill>
                  <a:srgbClr val="000000"/>
                </a:solidFill>
                <a:latin typeface="Calibri"/>
              </a:rPr>
              <a:t>git checkout main</a:t>
            </a:r>
            <a:r>
              <a:rPr b="0" lang="de-DE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de-DE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de-DE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de-DE" sz="2000" spc="-1" strike="noStrike">
                <a:solidFill>
                  <a:srgbClr val="000000"/>
                </a:solidFill>
                <a:latin typeface="Calibri"/>
              </a:rPr>
              <a:t># move from day2 to main branch</a:t>
            </a:r>
            <a:endParaRPr b="0" lang="de-DE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800" spc="-1" strike="noStrike">
                <a:solidFill>
                  <a:srgbClr val="000000"/>
                </a:solidFill>
                <a:latin typeface="Calibri"/>
              </a:rPr>
              <a:t>git pull</a:t>
            </a:r>
            <a:r>
              <a:rPr b="0" lang="de-DE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de-DE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de-DE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de-DE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de-DE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de-DE" sz="2000" spc="-1" strike="noStrike">
                <a:solidFill>
                  <a:srgbClr val="000000"/>
                </a:solidFill>
                <a:latin typeface="Calibri"/>
              </a:rPr>
              <a:t># get updates from parent repo</a:t>
            </a:r>
            <a:endParaRPr b="0" lang="de-DE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800" spc="-1" strike="noStrike">
                <a:solidFill>
                  <a:srgbClr val="000000"/>
                </a:solidFill>
                <a:latin typeface="Calibri"/>
              </a:rPr>
              <a:t>git checkout –b day3</a:t>
            </a:r>
            <a:r>
              <a:rPr b="0" lang="de-DE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de-DE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de-DE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de-DE" sz="2000" spc="-1" strike="noStrike">
                <a:solidFill>
                  <a:srgbClr val="000000"/>
                </a:solidFill>
                <a:latin typeface="Calibri"/>
              </a:rPr>
              <a:t># branch off for day</a:t>
            </a:r>
            <a:endParaRPr b="0" lang="de-DE" sz="20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2_Standarddesign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2_Standarddesign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</TotalTime>
  <Application>LibreOffice/7.4.7.2$Linux_X86_64 LibreOffice_project/40$Build-2</Application>
  <AppVersion>15.0000</AppVersion>
  <Company>GeoForschungsPotsdam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2003-03-04T07:23:38Z</dcterms:created>
  <dc:creator>bguse</dc:creator>
  <dc:description/>
  <dc:language>de-DE</dc:language>
  <cp:lastModifiedBy/>
  <cp:lastPrinted>2021-04-12T14:25:57Z</cp:lastPrinted>
  <dcterms:modified xsi:type="dcterms:W3CDTF">2025-04-04T09:23:27Z</dcterms:modified>
  <cp:revision>1636</cp:revision>
  <dc:subject/>
  <dc:title>Folie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4</vt:r8>
  </property>
  <property fmtid="{D5CDD505-2E9C-101B-9397-08002B2CF9AE}" pid="3" name="PresentationFormat">
    <vt:lpwstr>Breitbild</vt:lpwstr>
  </property>
  <property fmtid="{D5CDD505-2E9C-101B-9397-08002B2CF9AE}" pid="4" name="Slides">
    <vt:r8>4</vt:r8>
  </property>
</Properties>
</file>